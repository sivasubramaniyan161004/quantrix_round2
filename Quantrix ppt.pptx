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8" r:id="rId1"/>
  </p:sldMasterIdLst>
  <p:notesMasterIdLst>
    <p:notesMasterId r:id="rId13"/>
  </p:notesMasterIdLst>
  <p:sldIdLst>
    <p:sldId id="268" r:id="rId2"/>
    <p:sldId id="257" r:id="rId3"/>
    <p:sldId id="259" r:id="rId4"/>
    <p:sldId id="267" r:id="rId5"/>
    <p:sldId id="269" r:id="rId6"/>
    <p:sldId id="270" r:id="rId7"/>
    <p:sldId id="261" r:id="rId8"/>
    <p:sldId id="258" r:id="rId9"/>
    <p:sldId id="271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Siva\Desktop\Tables%20&amp;%20Chart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Siva\Desktop\Tables%20&amp;%20Chart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Siva\Desktop\Tables%20&amp;%20Charts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Siva\Desktop\Tables%20&amp;%20Charts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Siva\Desktop\Tables%20&amp;%20Charts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Siva\Desktop\Tables%20&amp;%20Charts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Siva\Desktop\Tables%20&amp;%20Charts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Siva\Desktop\Tables%20&amp;%20Charts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Based on</a:t>
            </a:r>
            <a:r>
              <a:rPr lang="en-IN" baseline="0"/>
              <a:t> Hotel type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clustered"/>
        <c:varyColors val="0"/>
        <c:ser>
          <c:idx val="0"/>
          <c:order val="0"/>
          <c:tx>
            <c:strRef>
              <c:f>'Revenue Lost'!$A$2</c:f>
              <c:strCache>
                <c:ptCount val="1"/>
                <c:pt idx="0">
                  <c:v>City Hotel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val>
            <c:numRef>
              <c:f>'Revenue Lost'!$B$2:$C$2</c:f>
              <c:numCache>
                <c:formatCode>"₹"#,##0_);[Red]\("₹"#,##0\)</c:formatCode>
                <c:ptCount val="2"/>
                <c:pt idx="0">
                  <c:v>25218077</c:v>
                </c:pt>
                <c:pt idx="1">
                  <c:v>10866064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CAB-4164-AB3B-CB70BF27B1FA}"/>
            </c:ext>
          </c:extLst>
        </c:ser>
        <c:ser>
          <c:idx val="1"/>
          <c:order val="1"/>
          <c:tx>
            <c:strRef>
              <c:f>'Revenue Lost'!$A$3</c:f>
              <c:strCache>
                <c:ptCount val="1"/>
                <c:pt idx="0">
                  <c:v>Resort Hotel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val>
            <c:numRef>
              <c:f>'Revenue Lost'!$B$3:$C$3</c:f>
              <c:numCache>
                <c:formatCode>"₹"#,##0_);[Red]\("₹"#,##0\)</c:formatCode>
                <c:ptCount val="2"/>
                <c:pt idx="0">
                  <c:v>17048701</c:v>
                </c:pt>
                <c:pt idx="1">
                  <c:v>5697319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CAB-4164-AB3B-CB70BF27B1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1071971983"/>
        <c:axId val="1004962863"/>
        <c:axId val="0"/>
      </c:bar3DChart>
      <c:catAx>
        <c:axId val="1071971983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04962863"/>
        <c:crosses val="autoZero"/>
        <c:auto val="1"/>
        <c:lblAlgn val="ctr"/>
        <c:lblOffset val="100"/>
        <c:noMultiLvlLbl val="0"/>
      </c:catAx>
      <c:valAx>
        <c:axId val="100496286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&quot;₹&quot;#,##0_);[Red]\(&quot;₹&quot;#,##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719719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 Based</a:t>
            </a:r>
            <a:r>
              <a:rPr lang="en-IN" baseline="0"/>
              <a:t> on Deposit Type</a:t>
            </a:r>
            <a:endParaRPr lang="en-IN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cat>
            <c:strRef>
              <c:f>'Revenue Lost'!$A$12:$A$14</c:f>
              <c:strCache>
                <c:ptCount val="3"/>
                <c:pt idx="0">
                  <c:v>Non Refund</c:v>
                </c:pt>
                <c:pt idx="1">
                  <c:v>Refundable</c:v>
                </c:pt>
                <c:pt idx="2">
                  <c:v>No Deposit</c:v>
                </c:pt>
              </c:strCache>
            </c:strRef>
          </c:cat>
          <c:val>
            <c:numRef>
              <c:f>'Revenue Lost'!$B$12:$B$14</c:f>
              <c:numCache>
                <c:formatCode>"₹"#,##0_);[Red]\("₹"#,##0\)</c:formatCode>
                <c:ptCount val="3"/>
                <c:pt idx="0">
                  <c:v>3615717</c:v>
                </c:pt>
                <c:pt idx="1">
                  <c:v>48985</c:v>
                </c:pt>
                <c:pt idx="2">
                  <c:v>38602076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B81-4916-8FDE-380D31568BE7}"/>
            </c:ext>
          </c:extLst>
        </c:ser>
        <c:ser>
          <c:idx val="1"/>
          <c:order val="1"/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cat>
            <c:strRef>
              <c:f>'Revenue Lost'!$A$12:$A$14</c:f>
              <c:strCache>
                <c:ptCount val="3"/>
                <c:pt idx="0">
                  <c:v>Non Refund</c:v>
                </c:pt>
                <c:pt idx="1">
                  <c:v>Refundable</c:v>
                </c:pt>
                <c:pt idx="2">
                  <c:v>No Deposit</c:v>
                </c:pt>
              </c:strCache>
            </c:strRef>
          </c:cat>
          <c:val>
            <c:numRef>
              <c:f>'Revenue Lost'!$C$12:$C$14</c:f>
              <c:numCache>
                <c:formatCode>"₹"#,##0_);[Red]\("₹"#,##0\)</c:formatCode>
                <c:ptCount val="3"/>
                <c:pt idx="0">
                  <c:v>3598607</c:v>
                </c:pt>
                <c:pt idx="1">
                  <c:v>19998</c:v>
                </c:pt>
                <c:pt idx="2">
                  <c:v>12944778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B81-4916-8FDE-380D31568B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1025505887"/>
        <c:axId val="1004994543"/>
        <c:axId val="0"/>
      </c:bar3DChart>
      <c:catAx>
        <c:axId val="10255058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04994543"/>
        <c:crosses val="autoZero"/>
        <c:auto val="1"/>
        <c:lblAlgn val="ctr"/>
        <c:lblOffset val="100"/>
        <c:noMultiLvlLbl val="0"/>
      </c:catAx>
      <c:valAx>
        <c:axId val="100499454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&quot;₹&quot;#,##0_);[Red]\(&quot;₹&quot;#,##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550588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Market Segment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cat>
            <c:strRef>
              <c:f>'Revenue Lost'!$A$24:$A$26</c:f>
              <c:strCache>
                <c:ptCount val="3"/>
                <c:pt idx="0">
                  <c:v>Groups</c:v>
                </c:pt>
                <c:pt idx="1">
                  <c:v>Online TA</c:v>
                </c:pt>
                <c:pt idx="2">
                  <c:v>Refundable/Offline TA/TO</c:v>
                </c:pt>
              </c:strCache>
            </c:strRef>
          </c:cat>
          <c:val>
            <c:numRef>
              <c:f>'Revenue Lost'!$B$24:$B$26</c:f>
              <c:numCache>
                <c:formatCode>"₹"#,##0_);[Red]\("₹"#,##0\)</c:formatCode>
                <c:ptCount val="3"/>
                <c:pt idx="0">
                  <c:v>4652527</c:v>
                </c:pt>
                <c:pt idx="1">
                  <c:v>23670728</c:v>
                </c:pt>
                <c:pt idx="2">
                  <c:v>8136441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A81-4611-8F22-637C39D1F1DB}"/>
            </c:ext>
          </c:extLst>
        </c:ser>
        <c:ser>
          <c:idx val="1"/>
          <c:order val="1"/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cat>
            <c:strRef>
              <c:f>'Revenue Lost'!$A$24:$A$26</c:f>
              <c:strCache>
                <c:ptCount val="3"/>
                <c:pt idx="0">
                  <c:v>Groups</c:v>
                </c:pt>
                <c:pt idx="1">
                  <c:v>Online TA</c:v>
                </c:pt>
                <c:pt idx="2">
                  <c:v>Refundable/Offline TA/TO</c:v>
                </c:pt>
              </c:strCache>
            </c:strRef>
          </c:cat>
          <c:val>
            <c:numRef>
              <c:f>'Revenue Lost'!$C$24:$C$26</c:f>
              <c:numCache>
                <c:formatCode>"₹"#,##0_);[Red]\("₹"#,##0\)</c:formatCode>
                <c:ptCount val="3"/>
                <c:pt idx="0">
                  <c:v>2799864</c:v>
                </c:pt>
                <c:pt idx="1">
                  <c:v>10100106</c:v>
                </c:pt>
                <c:pt idx="2">
                  <c:v>2486958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A81-4611-8F22-637C39D1F1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1068814127"/>
        <c:axId val="1005012783"/>
        <c:axId val="0"/>
      </c:bar3DChart>
      <c:catAx>
        <c:axId val="106881412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05012783"/>
        <c:crosses val="autoZero"/>
        <c:auto val="1"/>
        <c:lblAlgn val="ctr"/>
        <c:lblOffset val="100"/>
        <c:noMultiLvlLbl val="0"/>
      </c:catAx>
      <c:valAx>
        <c:axId val="100501278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&quot;₹&quot;#,##0_);[Red]\(&quot;₹&quot;#,##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6881412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Distribution</a:t>
            </a:r>
            <a:r>
              <a:rPr lang="en-IN" baseline="0"/>
              <a:t> Channel</a:t>
            </a:r>
            <a:endParaRPr lang="en-IN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cat>
            <c:strRef>
              <c:f>'Revenue Lost'!$A$36:$A$38</c:f>
              <c:strCache>
                <c:ptCount val="3"/>
                <c:pt idx="0">
                  <c:v>TA/TO</c:v>
                </c:pt>
                <c:pt idx="1">
                  <c:v>GDS</c:v>
                </c:pt>
                <c:pt idx="2">
                  <c:v>Corporate</c:v>
                </c:pt>
              </c:strCache>
            </c:strRef>
          </c:cat>
          <c:val>
            <c:numRef>
              <c:f>'Revenue Lost'!$B$36:$B$38</c:f>
              <c:numCache>
                <c:formatCode>"₹"#,##0_);[Red]\("₹"#,##0\)</c:formatCode>
                <c:ptCount val="3"/>
                <c:pt idx="0">
                  <c:v>35801271</c:v>
                </c:pt>
                <c:pt idx="1">
                  <c:v>45997</c:v>
                </c:pt>
                <c:pt idx="2">
                  <c:v>1112955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88-4F2A-A465-43FB7245C53D}"/>
            </c:ext>
          </c:extLst>
        </c:ser>
        <c:ser>
          <c:idx val="1"/>
          <c:order val="1"/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cat>
            <c:strRef>
              <c:f>'Revenue Lost'!$A$36:$A$38</c:f>
              <c:strCache>
                <c:ptCount val="3"/>
                <c:pt idx="0">
                  <c:v>TA/TO</c:v>
                </c:pt>
                <c:pt idx="1">
                  <c:v>GDS</c:v>
                </c:pt>
                <c:pt idx="2">
                  <c:v>Corporate</c:v>
                </c:pt>
              </c:strCache>
            </c:strRef>
          </c:cat>
          <c:val>
            <c:numRef>
              <c:f>'Revenue Lost'!$C$36:$C$38</c:f>
              <c:numCache>
                <c:formatCode>"₹"#,##0_);[Red]\("₹"#,##0\)</c:formatCode>
                <c:ptCount val="3"/>
                <c:pt idx="0">
                  <c:v>15153632</c:v>
                </c:pt>
                <c:pt idx="1">
                  <c:v>12989</c:v>
                </c:pt>
                <c:pt idx="2">
                  <c:v>285579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388-4F2A-A465-43FB7245C5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1385758991"/>
        <c:axId val="791697679"/>
        <c:axId val="0"/>
      </c:bar3DChart>
      <c:catAx>
        <c:axId val="138575899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91697679"/>
        <c:crosses val="autoZero"/>
        <c:auto val="1"/>
        <c:lblAlgn val="ctr"/>
        <c:lblOffset val="100"/>
        <c:noMultiLvlLbl val="0"/>
      </c:catAx>
      <c:valAx>
        <c:axId val="79169767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&quot;₹&quot;#,##0_);[Red]\(&quot;₹&quot;#,##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8575899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Has</a:t>
            </a:r>
            <a:r>
              <a:rPr lang="en-IN" baseline="0"/>
              <a:t> Agent</a:t>
            </a:r>
            <a:endParaRPr lang="en-IN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clustered"/>
        <c:varyColors val="0"/>
        <c:ser>
          <c:idx val="0"/>
          <c:order val="0"/>
          <c:tx>
            <c:strRef>
              <c:f>'Revenue Lost'!$A$77</c:f>
              <c:strCache>
                <c:ptCount val="1"/>
                <c:pt idx="0">
                  <c:v>Yes (1)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val>
            <c:numRef>
              <c:f>'Revenue Lost'!$B$77:$C$77</c:f>
              <c:numCache>
                <c:formatCode>"₹"#,##0_);[Red]\("₹"#,##0\)</c:formatCode>
                <c:ptCount val="2"/>
                <c:pt idx="0">
                  <c:v>38507414</c:v>
                </c:pt>
                <c:pt idx="1">
                  <c:v>15435507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17-4E73-ACA2-57B61EC49022}"/>
            </c:ext>
          </c:extLst>
        </c:ser>
        <c:ser>
          <c:idx val="1"/>
          <c:order val="1"/>
          <c:tx>
            <c:strRef>
              <c:f>'Revenue Lost'!$A$78</c:f>
              <c:strCache>
                <c:ptCount val="1"/>
                <c:pt idx="0">
                  <c:v>No (0)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val>
            <c:numRef>
              <c:f>'Revenue Lost'!$B$78:$C$78</c:f>
              <c:numCache>
                <c:formatCode>"₹"#,##0_);[Red]\("₹"#,##0\)</c:formatCode>
                <c:ptCount val="2"/>
                <c:pt idx="0">
                  <c:v>3759363</c:v>
                </c:pt>
                <c:pt idx="1">
                  <c:v>1127876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017-4E73-ACA2-57B61EC490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1461975199"/>
        <c:axId val="1463564367"/>
        <c:axId val="0"/>
      </c:bar3DChart>
      <c:catAx>
        <c:axId val="1461975199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63564367"/>
        <c:crosses val="autoZero"/>
        <c:auto val="1"/>
        <c:lblAlgn val="ctr"/>
        <c:lblOffset val="100"/>
        <c:noMultiLvlLbl val="0"/>
      </c:catAx>
      <c:valAx>
        <c:axId val="146356436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&quot;₹&quot;#,##0_);[Red]\(&quot;₹&quot;#,##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619751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Monthly</a:t>
            </a:r>
            <a:r>
              <a:rPr lang="en-US" baseline="0" dirty="0"/>
              <a:t> Changes</a:t>
            </a:r>
            <a:endParaRPr lang="en-IN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cat>
            <c:strRef>
              <c:f>'Revenue Lost'!$A$91:$A$95</c:f>
              <c:strCache>
                <c:ptCount val="5"/>
                <c:pt idx="0">
                  <c:v>April</c:v>
                </c:pt>
                <c:pt idx="1">
                  <c:v>June</c:v>
                </c:pt>
                <c:pt idx="2">
                  <c:v>May</c:v>
                </c:pt>
                <c:pt idx="3">
                  <c:v>December</c:v>
                </c:pt>
                <c:pt idx="4">
                  <c:v>January</c:v>
                </c:pt>
              </c:strCache>
            </c:strRef>
          </c:cat>
          <c:val>
            <c:numRef>
              <c:f>'Revenue Lost'!$B$91:$B$95</c:f>
              <c:numCache>
                <c:formatCode>"₹"#,##0_);[Red]\("₹"#,##0\)</c:formatCode>
                <c:ptCount val="5"/>
                <c:pt idx="0">
                  <c:v>3708207</c:v>
                </c:pt>
                <c:pt idx="1">
                  <c:v>4488562</c:v>
                </c:pt>
                <c:pt idx="2">
                  <c:v>4095098</c:v>
                </c:pt>
                <c:pt idx="3">
                  <c:v>1775378</c:v>
                </c:pt>
                <c:pt idx="4">
                  <c:v>1273077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D40-4E4A-82B2-623EAD3D46B5}"/>
            </c:ext>
          </c:extLst>
        </c:ser>
        <c:ser>
          <c:idx val="1"/>
          <c:order val="1"/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cat>
            <c:strRef>
              <c:f>'Revenue Lost'!$A$91:$A$95</c:f>
              <c:strCache>
                <c:ptCount val="5"/>
                <c:pt idx="0">
                  <c:v>April</c:v>
                </c:pt>
                <c:pt idx="1">
                  <c:v>June</c:v>
                </c:pt>
                <c:pt idx="2">
                  <c:v>May</c:v>
                </c:pt>
                <c:pt idx="3">
                  <c:v>December</c:v>
                </c:pt>
                <c:pt idx="4">
                  <c:v>January</c:v>
                </c:pt>
              </c:strCache>
            </c:strRef>
          </c:cat>
          <c:val>
            <c:numRef>
              <c:f>'Revenue Lost'!$C$91:$C$95</c:f>
              <c:numCache>
                <c:formatCode>"₹"#,##0_);[Red]\("₹"#,##0\)</c:formatCode>
                <c:ptCount val="5"/>
                <c:pt idx="0">
                  <c:v>1610609</c:v>
                </c:pt>
                <c:pt idx="1">
                  <c:v>1912029</c:v>
                </c:pt>
                <c:pt idx="2">
                  <c:v>1704915</c:v>
                </c:pt>
                <c:pt idx="3">
                  <c:v>710066</c:v>
                </c:pt>
                <c:pt idx="4">
                  <c:v>496401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D40-4E4A-82B2-623EAD3D46B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1327492431"/>
        <c:axId val="1463518767"/>
        <c:axId val="0"/>
      </c:bar3DChart>
      <c:catAx>
        <c:axId val="132749243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63518767"/>
        <c:crosses val="autoZero"/>
        <c:auto val="1"/>
        <c:lblAlgn val="ctr"/>
        <c:lblOffset val="100"/>
        <c:noMultiLvlLbl val="0"/>
      </c:catAx>
      <c:valAx>
        <c:axId val="146351876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&quot;₹&quot;#,##0_);[Red]\(&quot;₹&quot;#,##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2749243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Customer Type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clustered"/>
        <c:varyColors val="0"/>
        <c:ser>
          <c:idx val="0"/>
          <c:order val="0"/>
          <c:tx>
            <c:strRef>
              <c:f>'Revenue Lost'!$A$51</c:f>
              <c:strCache>
                <c:ptCount val="1"/>
                <c:pt idx="0">
                  <c:v>Transient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val>
            <c:numRef>
              <c:f>'Revenue Lost'!$B$51:$C$51</c:f>
              <c:numCache>
                <c:formatCode>"₹"#,##0_);[Red]\("₹"#,##0\)</c:formatCode>
                <c:ptCount val="2"/>
                <c:pt idx="0">
                  <c:v>33776282</c:v>
                </c:pt>
                <c:pt idx="1">
                  <c:v>14704241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832-496A-B8F8-DD4664B72A6C}"/>
            </c:ext>
          </c:extLst>
        </c:ser>
        <c:ser>
          <c:idx val="1"/>
          <c:order val="1"/>
          <c:tx>
            <c:strRef>
              <c:f>'Revenue Lost'!$A$52</c:f>
              <c:strCache>
                <c:ptCount val="1"/>
                <c:pt idx="0">
                  <c:v>Transient-Party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val>
            <c:numRef>
              <c:f>'Revenue Lost'!$B$52:$C$52</c:f>
              <c:numCache>
                <c:formatCode>"₹"#,##0_);[Red]\("₹"#,##0\)</c:formatCode>
                <c:ptCount val="2"/>
                <c:pt idx="0">
                  <c:v>6511685</c:v>
                </c:pt>
                <c:pt idx="1">
                  <c:v>1488604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832-496A-B8F8-DD4664B72A6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1461973343"/>
        <c:axId val="1463471247"/>
        <c:axId val="0"/>
      </c:bar3DChart>
      <c:catAx>
        <c:axId val="1461973343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63471247"/>
        <c:crosses val="autoZero"/>
        <c:auto val="1"/>
        <c:lblAlgn val="ctr"/>
        <c:lblOffset val="100"/>
        <c:noMultiLvlLbl val="0"/>
      </c:catAx>
      <c:valAx>
        <c:axId val="146347124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&quot;₹&quot;#,##0_);[Red]\(&quot;₹&quot;#,##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6197334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Has</a:t>
            </a:r>
            <a:r>
              <a:rPr lang="en-IN" baseline="0"/>
              <a:t> Company</a:t>
            </a:r>
            <a:endParaRPr lang="en-IN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clustered"/>
        <c:varyColors val="0"/>
        <c:ser>
          <c:idx val="0"/>
          <c:order val="0"/>
          <c:tx>
            <c:strRef>
              <c:f>'Revenue Lost'!$A$64</c:f>
              <c:strCache>
                <c:ptCount val="1"/>
                <c:pt idx="0">
                  <c:v>No (0)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val>
            <c:numRef>
              <c:f>'Revenue Lost'!$B$64:$C$64</c:f>
              <c:numCache>
                <c:formatCode>"₹"#,##0_);[Red]\("₹"#,##0\)</c:formatCode>
                <c:ptCount val="2"/>
                <c:pt idx="0">
                  <c:v>41169739</c:v>
                </c:pt>
                <c:pt idx="1">
                  <c:v>16359229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5CC-4854-95B0-BE653F9584F1}"/>
            </c:ext>
          </c:extLst>
        </c:ser>
        <c:ser>
          <c:idx val="1"/>
          <c:order val="1"/>
          <c:tx>
            <c:strRef>
              <c:f>'Revenue Lost'!$A$65</c:f>
              <c:strCache>
                <c:ptCount val="1"/>
                <c:pt idx="0">
                  <c:v>Yes (1)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val>
            <c:numRef>
              <c:f>'Revenue Lost'!$B$65:$C$65</c:f>
              <c:numCache>
                <c:formatCode>"₹"#,##0_);[Red]\("₹"#,##0\)</c:formatCode>
                <c:ptCount val="2"/>
                <c:pt idx="0">
                  <c:v>1097039</c:v>
                </c:pt>
                <c:pt idx="1">
                  <c:v>204154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5CC-4854-95B0-BE653F9584F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1459928383"/>
        <c:axId val="1463529807"/>
        <c:axId val="0"/>
      </c:bar3DChart>
      <c:catAx>
        <c:axId val="1459928383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63529807"/>
        <c:crosses val="autoZero"/>
        <c:auto val="1"/>
        <c:lblAlgn val="ctr"/>
        <c:lblOffset val="100"/>
        <c:noMultiLvlLbl val="0"/>
      </c:catAx>
      <c:valAx>
        <c:axId val="146352980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&quot;₹&quot;#,##0_);[Red]\(&quot;₹&quot;#,##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599283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7F975C-B0B1-41B6-99E7-28B1B3F6B837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856FA4-E7E3-48F3-83C1-2AD02A6BA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32704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856FA4-E7E3-48F3-83C1-2AD02A6BA252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646855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1033272"/>
            <a:ext cx="5892073" cy="389534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40" y="5733288"/>
            <a:ext cx="5892071" cy="79552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F08B46D-341A-2502-FE91-2C5EF7710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931152" y="793817"/>
            <a:ext cx="5260848" cy="6064181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938587" y="207982"/>
            <a:ext cx="2662798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982C70B-F866-412B-B78F-D1F10E997D88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AA71C9B-4171-4C73-A80D-52ACBE0B861D}" type="slidenum">
              <a:rPr lang="en-IN" smtClean="0"/>
              <a:t>‹#›</a:t>
            </a:fld>
            <a:endParaRPr lang="en-IN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F2C2C7B-6B47-4A5B-B24C-B316964ABE62}"/>
              </a:ext>
            </a:extLst>
          </p:cNvPr>
          <p:cNvCxnSpPr>
            <a:cxnSpLocks/>
          </p:cNvCxnSpPr>
          <p:nvPr/>
        </p:nvCxnSpPr>
        <p:spPr>
          <a:xfrm flipV="1">
            <a:off x="6929823" y="789558"/>
            <a:ext cx="0" cy="6068442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F32355F-80FD-3956-F8D4-9DF4073D0E2E}"/>
              </a:ext>
            </a:extLst>
          </p:cNvPr>
          <p:cNvCxnSpPr>
            <a:cxnSpLocks/>
          </p:cNvCxnSpPr>
          <p:nvPr/>
        </p:nvCxnSpPr>
        <p:spPr>
          <a:xfrm>
            <a:off x="0" y="5420250"/>
            <a:ext cx="6929823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D4DD8B2-0D73-EB9B-9708-67DF28E40F96}"/>
              </a:ext>
            </a:extLst>
          </p:cNvPr>
          <p:cNvCxnSpPr>
            <a:cxnSpLocks/>
          </p:cNvCxnSpPr>
          <p:nvPr/>
        </p:nvCxnSpPr>
        <p:spPr>
          <a:xfrm>
            <a:off x="0" y="791907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13576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612648"/>
            <a:ext cx="11253668" cy="1106424"/>
          </a:xfrm>
        </p:spPr>
        <p:txBody>
          <a:bodyPr/>
          <a:lstStyle>
            <a:lvl1pPr>
              <a:defRPr sz="6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559" y="2139696"/>
            <a:ext cx="11253668" cy="42885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D457B6E-DC25-9A54-64F7-98703149B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49DF708-DA4E-D117-5CE8-7401A836F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2C70B-F866-412B-B78F-D1F10E997D88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1AE2728-8254-BE0F-89AB-2D5352D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71C9B-4171-4C73-A80D-52ACBE0B861D}" type="slidenum">
              <a:rPr lang="en-IN" smtClean="0"/>
              <a:t>‹#›</a:t>
            </a:fld>
            <a:endParaRPr lang="en-I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93DFD8D-B66E-C844-B523-E3C51265F5EA}"/>
              </a:ext>
            </a:extLst>
          </p:cNvPr>
          <p:cNvCxnSpPr>
            <a:cxnSpLocks/>
          </p:cNvCxnSpPr>
          <p:nvPr/>
        </p:nvCxnSpPr>
        <p:spPr>
          <a:xfrm>
            <a:off x="0" y="180556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2125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5223554"/>
            <a:ext cx="11430000" cy="9144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39" y="6083090"/>
            <a:ext cx="11429999" cy="56692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F08B46D-341A-2502-FE91-2C5EF7710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50694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3982C70B-F866-412B-B78F-D1F10E997D88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8AA71C9B-4171-4C73-A80D-52ACBE0B861D}" type="slidenum">
              <a:rPr lang="en-IN" smtClean="0"/>
              <a:t>‹#›</a:t>
            </a:fld>
            <a:endParaRPr lang="en-I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ABE8472-319C-7663-7B71-2A6549DED7EF}"/>
              </a:ext>
            </a:extLst>
          </p:cNvPr>
          <p:cNvCxnSpPr>
            <a:cxnSpLocks/>
          </p:cNvCxnSpPr>
          <p:nvPr/>
        </p:nvCxnSpPr>
        <p:spPr>
          <a:xfrm>
            <a:off x="0" y="5068350"/>
            <a:ext cx="12188952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788177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758952"/>
            <a:ext cx="7589520" cy="408736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9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39" y="5404104"/>
            <a:ext cx="11515277" cy="57607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6254496"/>
            <a:ext cx="2963692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921742" y="6254496"/>
            <a:ext cx="1679642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982C70B-F866-412B-B78F-D1F10E997D88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54496"/>
            <a:ext cx="546447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AA71C9B-4171-4C73-A80D-52ACBE0B861D}" type="slidenum">
              <a:rPr lang="en-IN" smtClean="0"/>
              <a:t>‹#›</a:t>
            </a:fld>
            <a:endParaRPr lang="en-IN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5C310B-ED34-BA33-630C-F8D5EB2A41A2}"/>
              </a:ext>
            </a:extLst>
          </p:cNvPr>
          <p:cNvCxnSpPr>
            <a:cxnSpLocks/>
          </p:cNvCxnSpPr>
          <p:nvPr/>
        </p:nvCxnSpPr>
        <p:spPr>
          <a:xfrm>
            <a:off x="0" y="6057900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6B77E3C-9D50-9277-C646-D9B5AB8122BB}"/>
              </a:ext>
            </a:extLst>
          </p:cNvPr>
          <p:cNvCxnSpPr>
            <a:cxnSpLocks/>
          </p:cNvCxnSpPr>
          <p:nvPr/>
        </p:nvCxnSpPr>
        <p:spPr>
          <a:xfrm>
            <a:off x="0" y="527477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28799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">
    <p:bg>
      <p:bgPr>
        <a:solidFill>
          <a:srgbClr val="C835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77CE2-4402-942B-FD26-6E29BDAB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" y="1435608"/>
            <a:ext cx="11594592" cy="5559552"/>
          </a:xfrm>
        </p:spPr>
        <p:txBody>
          <a:bodyPr anchor="b">
            <a:normAutofit/>
          </a:bodyPr>
          <a:lstStyle>
            <a:lvl1pPr>
              <a:lnSpc>
                <a:spcPct val="67000"/>
              </a:lnSpc>
              <a:defRPr sz="14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C3F3D2-CADD-A94F-6739-CCCDA6C6F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C541E-3AF5-9564-CE04-E4B86459D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982C70B-F866-412B-B78F-D1F10E997D88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C772A7-7F28-0EB0-D243-BCC6917DA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AA71C9B-4171-4C73-A80D-52ACBE0B861D}" type="slidenum">
              <a:rPr lang="en-IN" smtClean="0"/>
              <a:t>‹#›</a:t>
            </a:fld>
            <a:endParaRPr lang="en-IN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716D65-B11C-E9B7-66BF-88E72C5DCEBA}"/>
              </a:ext>
            </a:extLst>
          </p:cNvPr>
          <p:cNvCxnSpPr>
            <a:cxnSpLocks/>
          </p:cNvCxnSpPr>
          <p:nvPr/>
        </p:nvCxnSpPr>
        <p:spPr>
          <a:xfrm>
            <a:off x="0" y="783822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13796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Agenda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7" y="886968"/>
            <a:ext cx="11405277" cy="1170432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599C6D-D164-AA94-72F8-241C18719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4881" y="2832652"/>
            <a:ext cx="6893719" cy="3508951"/>
          </a:xfrm>
        </p:spPr>
        <p:txBody>
          <a:bodyPr anchor="t"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800100" indent="-342900">
              <a:buFont typeface="+mj-lt"/>
              <a:buAutoNum type="arabicPeriod"/>
              <a:defRPr sz="1800"/>
            </a:lvl2pPr>
            <a:lvl3pPr marL="1257300" indent="-342900">
              <a:buFont typeface="+mj-lt"/>
              <a:buAutoNum type="arabicPeriod"/>
              <a:defRPr sz="1600"/>
            </a:lvl3pPr>
            <a:lvl4pPr marL="1714500" indent="-342900">
              <a:buFont typeface="+mj-lt"/>
              <a:buAutoNum type="arabicPeriod"/>
              <a:defRPr sz="1400"/>
            </a:lvl4pPr>
            <a:lvl5pPr marL="21717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B50CAA-07B2-F8CA-1425-4249CE17A8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2C70B-F866-412B-B78F-D1F10E997D88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DEAD866-E26E-BF23-7B5D-9F689B2FA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71C9B-4171-4C73-A80D-52ACBE0B861D}" type="slidenum">
              <a:rPr lang="en-IN" smtClean="0"/>
              <a:t>‹#›</a:t>
            </a:fld>
            <a:endParaRPr lang="en-IN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8AC7CAE-FC19-2728-AA3B-1D2FE7879B25}"/>
              </a:ext>
            </a:extLst>
          </p:cNvPr>
          <p:cNvCxnSpPr>
            <a:cxnSpLocks/>
          </p:cNvCxnSpPr>
          <p:nvPr/>
        </p:nvCxnSpPr>
        <p:spPr>
          <a:xfrm>
            <a:off x="0" y="2118492"/>
            <a:ext cx="12192000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11B3592-91FB-05F4-B422-A40D7CD4DE2D}"/>
              </a:ext>
            </a:extLst>
          </p:cNvPr>
          <p:cNvCxnSpPr>
            <a:cxnSpLocks/>
          </p:cNvCxnSpPr>
          <p:nvPr/>
        </p:nvCxnSpPr>
        <p:spPr>
          <a:xfrm>
            <a:off x="0" y="800100"/>
            <a:ext cx="12192000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62984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with Picture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66944" y="521208"/>
            <a:ext cx="6647688" cy="1865376"/>
          </a:xfrm>
        </p:spPr>
        <p:txBody>
          <a:bodyPr>
            <a:normAutofit/>
          </a:bodyPr>
          <a:lstStyle>
            <a:lvl1pPr>
              <a:defRPr sz="8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D3A4126-4E48-DD2C-1468-6A36AE6C1D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917320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6943" y="2651760"/>
            <a:ext cx="6327648" cy="3547872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800100" indent="-342900">
              <a:buFont typeface="+mj-lt"/>
              <a:buAutoNum type="arabicPeriod"/>
              <a:defRPr sz="1800"/>
            </a:lvl2pPr>
            <a:lvl3pPr marL="1257300" indent="-342900">
              <a:buFont typeface="+mj-lt"/>
              <a:buAutoNum type="arabicPeriod"/>
              <a:defRPr sz="1600"/>
            </a:lvl3pPr>
            <a:lvl4pPr marL="1714500" indent="-342900">
              <a:buFont typeface="+mj-lt"/>
              <a:buAutoNum type="arabicPeriod"/>
              <a:defRPr sz="1400"/>
            </a:lvl4pPr>
            <a:lvl5pPr marL="21717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71899" y="210312"/>
            <a:ext cx="2962656" cy="411480"/>
          </a:xfrm>
        </p:spPr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73511" y="210312"/>
            <a:ext cx="1679642" cy="411480"/>
          </a:xfrm>
        </p:spPr>
        <p:txBody>
          <a:bodyPr/>
          <a:lstStyle/>
          <a:p>
            <a:fld id="{3982C70B-F866-412B-B78F-D1F10E997D88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71C9B-4171-4C73-A80D-52ACBE0B861D}" type="slidenum">
              <a:rPr lang="en-IN" smtClean="0"/>
              <a:t>‹#›</a:t>
            </a:fld>
            <a:endParaRPr lang="en-IN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633BE4-C9B9-310C-1EAE-191B5D344B59}"/>
              </a:ext>
            </a:extLst>
          </p:cNvPr>
          <p:cNvCxnSpPr>
            <a:cxnSpLocks/>
          </p:cNvCxnSpPr>
          <p:nvPr/>
        </p:nvCxnSpPr>
        <p:spPr>
          <a:xfrm>
            <a:off x="4923916" y="2452449"/>
            <a:ext cx="7268084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A010762-96A4-4E1C-CD5D-EE1C1D1FC6E2}"/>
              </a:ext>
            </a:extLst>
          </p:cNvPr>
          <p:cNvCxnSpPr>
            <a:cxnSpLocks/>
          </p:cNvCxnSpPr>
          <p:nvPr/>
        </p:nvCxnSpPr>
        <p:spPr>
          <a:xfrm flipV="1">
            <a:off x="4923916" y="0"/>
            <a:ext cx="0" cy="685800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33133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191" y="2077374"/>
            <a:ext cx="4479107" cy="2691413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66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7DEB5EF-910B-9B2B-CB95-1AD374FEC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1577" y="2210542"/>
            <a:ext cx="5869293" cy="2432477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FD4BD0F-0EF0-D5B9-5485-1ECB765DC5D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51577" y="207982"/>
            <a:ext cx="1921315" cy="413360"/>
          </a:xfrm>
        </p:spPr>
        <p:txBody>
          <a:bodyPr/>
          <a:lstStyle/>
          <a:p>
            <a:fld id="{3982C70B-F866-412B-B78F-D1F10E997D88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566B317-2D55-4797-E621-551FCA482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71C9B-4171-4C73-A80D-52ACBE0B861D}" type="slidenum">
              <a:rPr lang="en-IN" smtClean="0"/>
              <a:t>‹#›</a:t>
            </a:fld>
            <a:endParaRPr lang="en-I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28C01F2-A815-18C2-F49B-D8E165722653}"/>
              </a:ext>
            </a:extLst>
          </p:cNvPr>
          <p:cNvCxnSpPr>
            <a:cxnSpLocks/>
          </p:cNvCxnSpPr>
          <p:nvPr/>
        </p:nvCxnSpPr>
        <p:spPr>
          <a:xfrm>
            <a:off x="5311938" y="1550633"/>
            <a:ext cx="0" cy="3756734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790D5D6-313A-8ACD-591F-F8BEC510B947}"/>
              </a:ext>
            </a:extLst>
          </p:cNvPr>
          <p:cNvCxnSpPr>
            <a:cxnSpLocks/>
          </p:cNvCxnSpPr>
          <p:nvPr/>
        </p:nvCxnSpPr>
        <p:spPr>
          <a:xfrm>
            <a:off x="0" y="5308844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F6F1415-3933-6D89-472D-2FA4BBB279E7}"/>
              </a:ext>
            </a:extLst>
          </p:cNvPr>
          <p:cNvCxnSpPr>
            <a:cxnSpLocks/>
          </p:cNvCxnSpPr>
          <p:nvPr/>
        </p:nvCxnSpPr>
        <p:spPr>
          <a:xfrm>
            <a:off x="0" y="155063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27669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192" y="1249959"/>
            <a:ext cx="4085912" cy="512567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6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5B8121-E925-2131-A76A-FBDAB0BC9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8384" y="1249959"/>
            <a:ext cx="6440424" cy="52387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BA5BEFD-7245-BB4D-0F86-F1C3A32E067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63852" y="207982"/>
            <a:ext cx="1921315" cy="413360"/>
          </a:xfrm>
        </p:spPr>
        <p:txBody>
          <a:bodyPr/>
          <a:lstStyle/>
          <a:p>
            <a:fld id="{3982C70B-F866-412B-B78F-D1F10E997D88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5879897-4AF6-4B38-AB30-8DD979DC5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71C9B-4171-4C73-A80D-52ACBE0B861D}" type="slidenum">
              <a:rPr lang="en-IN" smtClean="0"/>
              <a:t>‹#›</a:t>
            </a:fld>
            <a:endParaRPr lang="en-I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28C01F2-A815-18C2-F49B-D8E165722653}"/>
              </a:ext>
            </a:extLst>
          </p:cNvPr>
          <p:cNvCxnSpPr>
            <a:cxnSpLocks/>
          </p:cNvCxnSpPr>
          <p:nvPr/>
        </p:nvCxnSpPr>
        <p:spPr>
          <a:xfrm>
            <a:off x="4918746" y="805343"/>
            <a:ext cx="0" cy="6052657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05627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0876" y="749808"/>
            <a:ext cx="6442024" cy="20391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910328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0875" y="213482"/>
            <a:ext cx="2962656" cy="411480"/>
          </a:xfrm>
        </p:spPr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09227" y="210312"/>
            <a:ext cx="1679642" cy="411480"/>
          </a:xfrm>
        </p:spPr>
        <p:txBody>
          <a:bodyPr/>
          <a:lstStyle/>
          <a:p>
            <a:fld id="{3982C70B-F866-412B-B78F-D1F10E997D88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71C9B-4171-4C73-A80D-52ACBE0B861D}" type="slidenum">
              <a:rPr lang="en-IN" smtClean="0"/>
              <a:t>‹#›</a:t>
            </a:fld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0875" y="2944368"/>
            <a:ext cx="6442025" cy="35716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910328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5472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0308" y="612648"/>
            <a:ext cx="7022592" cy="103327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342584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D81791C-036D-058C-0055-96793694D6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750307" y="210312"/>
            <a:ext cx="3531437" cy="413360"/>
          </a:xfrm>
        </p:spPr>
        <p:txBody>
          <a:bodyPr/>
          <a:lstStyle/>
          <a:p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A8DE5B-9C41-DE5B-BF91-98510120DCF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582299" y="210312"/>
            <a:ext cx="1679642" cy="413360"/>
          </a:xfrm>
        </p:spPr>
        <p:txBody>
          <a:bodyPr/>
          <a:lstStyle/>
          <a:p>
            <a:fld id="{3982C70B-F866-412B-B78F-D1F10E997D88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E0FD979-F905-C567-8E21-A3EDCE17980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AA71C9B-4171-4C73-A80D-52ACBE0B861D}" type="slidenum">
              <a:rPr lang="en-IN" smtClean="0"/>
              <a:t>‹#›</a:t>
            </a:fld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50307" y="1746503"/>
            <a:ext cx="7022592" cy="48066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345760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44443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612648"/>
            <a:ext cx="7015483" cy="103327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BB59EF2B-7C7F-BA27-16C2-C56B21D3774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A99D216-CE5A-6458-A23E-BE0E554AC3D1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224951" y="207982"/>
            <a:ext cx="1682496" cy="413360"/>
          </a:xfrm>
        </p:spPr>
        <p:txBody>
          <a:bodyPr/>
          <a:lstStyle/>
          <a:p>
            <a:fld id="{3982C70B-F866-412B-B78F-D1F10E997D88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3220FA64-3C9A-EBCF-5C28-E7DED40C97D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789594" y="207982"/>
            <a:ext cx="546447" cy="413360"/>
          </a:xfrm>
        </p:spPr>
        <p:txBody>
          <a:bodyPr/>
          <a:lstStyle/>
          <a:p>
            <a:fld id="{8AA71C9B-4171-4C73-A80D-52ACBE0B861D}" type="slidenum">
              <a:rPr lang="en-IN" smtClean="0"/>
              <a:t>‹#›</a:t>
            </a:fld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1746504"/>
            <a:ext cx="7018271" cy="48066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773592" y="0"/>
            <a:ext cx="4417215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7768833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05625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773" y="749808"/>
            <a:ext cx="5778227" cy="10332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969163" y="210312"/>
            <a:ext cx="1679642" cy="411480"/>
          </a:xfrm>
        </p:spPr>
        <p:txBody>
          <a:bodyPr/>
          <a:lstStyle/>
          <a:p>
            <a:fld id="{3982C70B-F866-412B-B78F-D1F10E997D88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14093" y="210312"/>
            <a:ext cx="546447" cy="413360"/>
          </a:xfrm>
        </p:spPr>
        <p:txBody>
          <a:bodyPr/>
          <a:lstStyle/>
          <a:p>
            <a:fld id="{8AA71C9B-4171-4C73-A80D-52ACBE0B861D}" type="slidenum">
              <a:rPr lang="en-IN" smtClean="0"/>
              <a:t>‹#›</a:t>
            </a:fld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1993391"/>
            <a:ext cx="5778227" cy="455980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575416" y="0"/>
            <a:ext cx="5616584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F4034EB-F498-D527-195A-D17B85027774}"/>
              </a:ext>
            </a:extLst>
          </p:cNvPr>
          <p:cNvCxnSpPr>
            <a:cxnSpLocks/>
          </p:cNvCxnSpPr>
          <p:nvPr/>
        </p:nvCxnSpPr>
        <p:spPr>
          <a:xfrm>
            <a:off x="6570629" y="0"/>
            <a:ext cx="0" cy="6857999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511915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749808"/>
            <a:ext cx="4123680" cy="151790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210312"/>
            <a:ext cx="2260057" cy="411480"/>
          </a:xfrm>
        </p:spPr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29329" y="210312"/>
            <a:ext cx="1058111" cy="411480"/>
          </a:xfrm>
        </p:spPr>
        <p:txBody>
          <a:bodyPr/>
          <a:lstStyle/>
          <a:p>
            <a:fld id="{3982C70B-F866-412B-B78F-D1F10E997D88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010197" y="210312"/>
            <a:ext cx="440969" cy="413360"/>
          </a:xfrm>
        </p:spPr>
        <p:txBody>
          <a:bodyPr/>
          <a:lstStyle/>
          <a:p>
            <a:fld id="{8AA71C9B-4171-4C73-A80D-52ACBE0B861D}" type="slidenum">
              <a:rPr lang="en-IN" smtClean="0"/>
              <a:t>‹#›</a:t>
            </a:fld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704" y="2578609"/>
            <a:ext cx="4130606" cy="37124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912658" y="0"/>
            <a:ext cx="7279341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907963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29103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749808"/>
            <a:ext cx="11514755" cy="96012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8890DBE-0DD3-8504-F95F-4225535FB1B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4BB28A-95D9-4CE6-DA59-520BA3C61CD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982C70B-F866-412B-B78F-D1F10E997D88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1FA0A0C-CE55-CB7D-174D-D77937630A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AA71C9B-4171-4C73-A80D-52ACBE0B861D}" type="slidenum">
              <a:rPr lang="en-IN" smtClean="0"/>
              <a:t>‹#›</a:t>
            </a:fld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2180556"/>
            <a:ext cx="5012355" cy="42842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822674" y="1834524"/>
            <a:ext cx="6378722" cy="502347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C753443-12E2-4CD3-2C6F-4E20536BA82B}"/>
              </a:ext>
            </a:extLst>
          </p:cNvPr>
          <p:cNvCxnSpPr>
            <a:cxnSpLocks/>
          </p:cNvCxnSpPr>
          <p:nvPr/>
        </p:nvCxnSpPr>
        <p:spPr>
          <a:xfrm>
            <a:off x="5816454" y="1827254"/>
            <a:ext cx="0" cy="504063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9B4AF9B-8CF3-D7A8-CDB9-8E513FFF57EC}"/>
              </a:ext>
            </a:extLst>
          </p:cNvPr>
          <p:cNvCxnSpPr>
            <a:cxnSpLocks/>
          </p:cNvCxnSpPr>
          <p:nvPr/>
        </p:nvCxnSpPr>
        <p:spPr>
          <a:xfrm>
            <a:off x="0" y="1827254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67409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5166364"/>
            <a:ext cx="3656530" cy="122342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8096" cy="483717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9121" y="5166364"/>
            <a:ext cx="7073776" cy="1223420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6437376"/>
            <a:ext cx="2962656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699121" y="6437193"/>
            <a:ext cx="4549413" cy="365125"/>
          </a:xfrm>
        </p:spPr>
        <p:txBody>
          <a:bodyPr/>
          <a:lstStyle/>
          <a:p>
            <a:fld id="{3982C70B-F866-412B-B78F-D1F10E997D88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437376"/>
            <a:ext cx="546447" cy="413360"/>
          </a:xfrm>
        </p:spPr>
        <p:txBody>
          <a:bodyPr/>
          <a:lstStyle/>
          <a:p>
            <a:fld id="{8AA71C9B-4171-4C73-A80D-52ACBE0B861D}" type="slidenum">
              <a:rPr lang="en-IN" smtClean="0"/>
              <a:t>‹#›</a:t>
            </a:fld>
            <a:endParaRPr lang="en-IN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F9F6E2-159F-CDF3-F2D3-AB7A7E505C0B}"/>
              </a:ext>
            </a:extLst>
          </p:cNvPr>
          <p:cNvCxnSpPr>
            <a:cxnSpLocks/>
          </p:cNvCxnSpPr>
          <p:nvPr/>
        </p:nvCxnSpPr>
        <p:spPr>
          <a:xfrm>
            <a:off x="4283425" y="4837176"/>
            <a:ext cx="0" cy="2020824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D4F9120-94C1-CA43-BF4E-9411F4866A20}"/>
              </a:ext>
            </a:extLst>
          </p:cNvPr>
          <p:cNvCxnSpPr>
            <a:cxnSpLocks/>
          </p:cNvCxnSpPr>
          <p:nvPr/>
        </p:nvCxnSpPr>
        <p:spPr>
          <a:xfrm>
            <a:off x="-1250" y="4842106"/>
            <a:ext cx="1219325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189222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762002"/>
            <a:ext cx="6612786" cy="1555895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A2AC736-2858-40E1-3533-38692573EC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6F901C69-26AA-7830-9BFF-EC62E8208AB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982C70B-F866-412B-B78F-D1F10E997D88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83EC4C7-2AFC-9797-0F80-FCBABD2A856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AA71C9B-4171-4C73-A80D-52ACBE0B861D}" type="slidenum">
              <a:rPr lang="en-IN" smtClean="0"/>
              <a:t>‹#›</a:t>
            </a:fld>
            <a:endParaRPr lang="en-IN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6627" y="2435966"/>
            <a:ext cx="7283725" cy="4422032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068" y="762000"/>
            <a:ext cx="4092813" cy="579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F70BF-1865-3761-955D-0621AA22B818}"/>
              </a:ext>
            </a:extLst>
          </p:cNvPr>
          <p:cNvCxnSpPr>
            <a:cxnSpLocks/>
          </p:cNvCxnSpPr>
          <p:nvPr/>
        </p:nvCxnSpPr>
        <p:spPr>
          <a:xfrm>
            <a:off x="0" y="2435966"/>
            <a:ext cx="72771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638DF4A-7DDF-7C24-D39A-EA7EAF7CFE63}"/>
              </a:ext>
            </a:extLst>
          </p:cNvPr>
          <p:cNvCxnSpPr>
            <a:cxnSpLocks/>
          </p:cNvCxnSpPr>
          <p:nvPr/>
        </p:nvCxnSpPr>
        <p:spPr>
          <a:xfrm>
            <a:off x="7277100" y="0"/>
            <a:ext cx="0" cy="6857999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84695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448056"/>
            <a:ext cx="11514759" cy="1124712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3482"/>
            <a:ext cx="2962656" cy="411480"/>
          </a:xfrm>
        </p:spPr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/>
          <a:lstStyle/>
          <a:p>
            <a:fld id="{3982C70B-F866-412B-B78F-D1F10E997D88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07982"/>
            <a:ext cx="546447" cy="411480"/>
          </a:xfrm>
        </p:spPr>
        <p:txBody>
          <a:bodyPr/>
          <a:lstStyle/>
          <a:p>
            <a:fld id="{8AA71C9B-4171-4C73-A80D-52ACBE0B861D}" type="slidenum">
              <a:rPr lang="en-IN" smtClean="0"/>
              <a:t>‹#›</a:t>
            </a:fld>
            <a:endParaRPr lang="en-IN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3614" y="1700784"/>
            <a:ext cx="3318170" cy="515721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1441" y="2130553"/>
            <a:ext cx="7971459" cy="4422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C347961-3E7C-FAAC-2283-DA751A80201C}"/>
              </a:ext>
            </a:extLst>
          </p:cNvPr>
          <p:cNvCxnSpPr>
            <a:cxnSpLocks/>
          </p:cNvCxnSpPr>
          <p:nvPr/>
        </p:nvCxnSpPr>
        <p:spPr>
          <a:xfrm>
            <a:off x="0" y="1695518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4B3C03-E31F-77F7-02F0-8C25E1C62792}"/>
              </a:ext>
            </a:extLst>
          </p:cNvPr>
          <p:cNvCxnSpPr>
            <a:cxnSpLocks/>
          </p:cNvCxnSpPr>
          <p:nvPr/>
        </p:nvCxnSpPr>
        <p:spPr>
          <a:xfrm>
            <a:off x="3318170" y="1695518"/>
            <a:ext cx="0" cy="5162482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944682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umber Large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71232" y="1188720"/>
            <a:ext cx="4069080" cy="4480560"/>
          </a:xfrm>
        </p:spPr>
        <p:txBody>
          <a:bodyPr anchor="ctr">
            <a:normAutofit/>
          </a:bodyPr>
          <a:lstStyle>
            <a:lvl1pPr>
              <a:lnSpc>
                <a:spcPct val="110000"/>
              </a:lnSpc>
              <a:defRPr sz="2800" cap="none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8056" y="1609344"/>
            <a:ext cx="6775704" cy="415137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lnSpc>
                <a:spcPct val="70000"/>
              </a:lnSpc>
              <a:buNone/>
              <a:defRPr lang="en-US" sz="33400" dirty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2pPr>
            <a:lvl3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3pPr>
            <a:lvl4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4pPr>
            <a:lvl5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5pPr>
          </a:lstStyle>
          <a:p>
            <a:pPr lvl="0"/>
            <a:r>
              <a:rPr lang="en-US" dirty="0"/>
              <a:t>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982C70B-F866-412B-B78F-D1F10E997D88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10312"/>
            <a:ext cx="546447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AA71C9B-4171-4C73-A80D-52ACBE0B861D}" type="slidenum">
              <a:rPr lang="en-IN" smtClean="0"/>
              <a:t>‹#›</a:t>
            </a:fld>
            <a:endParaRPr lang="en-IN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34144DB-F44E-C5EB-68A1-D39E3F401C4E}"/>
              </a:ext>
            </a:extLst>
          </p:cNvPr>
          <p:cNvCxnSpPr>
            <a:cxnSpLocks/>
          </p:cNvCxnSpPr>
          <p:nvPr/>
        </p:nvCxnSpPr>
        <p:spPr>
          <a:xfrm>
            <a:off x="0" y="6069441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82412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17773" y="914400"/>
            <a:ext cx="10045427" cy="4464554"/>
          </a:xfrm>
        </p:spPr>
        <p:txBody>
          <a:bodyPr anchor="ctr">
            <a:noAutofit/>
          </a:bodyPr>
          <a:lstStyle>
            <a:lvl1pPr marL="0" indent="0">
              <a:lnSpc>
                <a:spcPct val="75000"/>
              </a:lnSpc>
              <a:buNone/>
              <a:defRPr sz="8800" b="0">
                <a:solidFill>
                  <a:schemeClr val="tx2"/>
                </a:solidFill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8000" b="0">
                <a:solidFill>
                  <a:schemeClr val="tx2"/>
                </a:solidFill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7200" b="0">
                <a:solidFill>
                  <a:schemeClr val="tx2"/>
                </a:solidFill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6600" b="0">
                <a:solidFill>
                  <a:schemeClr val="tx2"/>
                </a:solidFill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6000" b="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6263640"/>
            <a:ext cx="2963692" cy="413360"/>
          </a:xfrm>
        </p:spPr>
        <p:txBody>
          <a:bodyPr/>
          <a:lstStyle/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0069" y="6263640"/>
            <a:ext cx="1921315" cy="413360"/>
          </a:xfrm>
        </p:spPr>
        <p:txBody>
          <a:bodyPr/>
          <a:lstStyle/>
          <a:p>
            <a:fld id="{3982C70B-F866-412B-B78F-D1F10E997D88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63640"/>
            <a:ext cx="546447" cy="413360"/>
          </a:xfrm>
        </p:spPr>
        <p:txBody>
          <a:bodyPr/>
          <a:lstStyle/>
          <a:p>
            <a:fld id="{8AA71C9B-4171-4C73-A80D-52ACBE0B861D}" type="slidenum">
              <a:rPr lang="en-IN" smtClean="0"/>
              <a:t>‹#›</a:t>
            </a:fld>
            <a:endParaRPr lang="en-IN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A935D4C-A027-60A0-BEB8-B1A89C1C5E3A}"/>
              </a:ext>
            </a:extLst>
          </p:cNvPr>
          <p:cNvCxnSpPr>
            <a:cxnSpLocks/>
          </p:cNvCxnSpPr>
          <p:nvPr/>
        </p:nvCxnSpPr>
        <p:spPr>
          <a:xfrm>
            <a:off x="0" y="6057900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71575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Quot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3232" y="5440220"/>
            <a:ext cx="9299448" cy="1015996"/>
          </a:xfrm>
        </p:spPr>
        <p:txBody>
          <a:bodyPr anchor="ctr">
            <a:normAutofit/>
          </a:bodyPr>
          <a:lstStyle>
            <a:lvl1pPr>
              <a:defRPr sz="2000" cap="none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0040" y="1170816"/>
            <a:ext cx="9692640" cy="3872159"/>
          </a:xfrm>
        </p:spPr>
        <p:txBody>
          <a:bodyPr>
            <a:normAutofit/>
          </a:bodyPr>
          <a:lstStyle>
            <a:lvl1pPr marL="274320" indent="-274320">
              <a:lnSpc>
                <a:spcPct val="70000"/>
              </a:lnSpc>
              <a:buNone/>
              <a:defRPr sz="8800" cap="all" baseline="0">
                <a:solidFill>
                  <a:schemeClr val="tx2"/>
                </a:solidFill>
                <a:latin typeface="+mj-lt"/>
              </a:defRPr>
            </a:lvl1pPr>
            <a:lvl2pPr marL="274320" indent="-274320">
              <a:lnSpc>
                <a:spcPct val="70000"/>
              </a:lnSpc>
              <a:buNone/>
              <a:defRPr sz="80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2pPr>
            <a:lvl3pPr marL="274320" indent="-274320">
              <a:lnSpc>
                <a:spcPct val="70000"/>
              </a:lnSpc>
              <a:buNone/>
              <a:defRPr sz="72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3pPr>
            <a:lvl4pPr marL="274320" indent="-274320">
              <a:lnSpc>
                <a:spcPct val="70000"/>
              </a:lnSpc>
              <a:buNone/>
              <a:defRPr sz="66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4pPr>
            <a:lvl5pPr marL="274320" indent="-274320">
              <a:lnSpc>
                <a:spcPct val="70000"/>
              </a:lnSpc>
              <a:buNone/>
              <a:defRPr sz="66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2443788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982C70B-F866-412B-B78F-D1F10E997D88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10312"/>
            <a:ext cx="546447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AA71C9B-4171-4C73-A80D-52ACBE0B861D}" type="slidenum">
              <a:rPr lang="en-IN" smtClean="0"/>
              <a:t>‹#›</a:t>
            </a:fld>
            <a:endParaRPr lang="en-IN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60C7B9-B6D9-6FB6-59EE-D9DB3BC93758}"/>
              </a:ext>
            </a:extLst>
          </p:cNvPr>
          <p:cNvCxnSpPr>
            <a:cxnSpLocks/>
          </p:cNvCxnSpPr>
          <p:nvPr/>
        </p:nvCxnSpPr>
        <p:spPr>
          <a:xfrm flipH="1">
            <a:off x="0" y="787179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15D9130-12F6-DFB8-70EF-9ACBA9FDECB0}"/>
              </a:ext>
            </a:extLst>
          </p:cNvPr>
          <p:cNvCxnSpPr>
            <a:cxnSpLocks/>
          </p:cNvCxnSpPr>
          <p:nvPr/>
        </p:nvCxnSpPr>
        <p:spPr>
          <a:xfrm>
            <a:off x="0" y="5274530"/>
            <a:ext cx="12192000" cy="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600803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594AB-EF90-9591-5954-F617B83D1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685800"/>
            <a:ext cx="11253668" cy="66569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6A57BED-3AFE-6AA9-E0D5-586748D61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7C21221-DC95-273B-0C4F-43B35ADA1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2C70B-F866-412B-B78F-D1F10E997D88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44E859-99AA-D46F-1AD8-4C0F287F3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71C9B-4171-4C73-A80D-52ACBE0B861D}" type="slidenum">
              <a:rPr lang="en-IN" smtClean="0"/>
              <a:t>‹#›</a:t>
            </a:fld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3231F-0FFC-E2BB-36F8-9816E4DECE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7773" y="1773857"/>
            <a:ext cx="5349240" cy="44531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CC2C1-ED8C-D52E-BEF5-671EDC6238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24987" y="1773858"/>
            <a:ext cx="5349240" cy="44531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397169B-5226-712F-36F4-352E56B637D4}"/>
              </a:ext>
            </a:extLst>
          </p:cNvPr>
          <p:cNvCxnSpPr>
            <a:cxnSpLocks/>
          </p:cNvCxnSpPr>
          <p:nvPr/>
        </p:nvCxnSpPr>
        <p:spPr>
          <a:xfrm>
            <a:off x="0" y="144282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101456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4958D-8125-1BDA-53C9-9E2D33883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772" y="685800"/>
            <a:ext cx="11256264" cy="6675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294A4A-89C4-68BF-6701-5C47F940E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908BC-F48B-81E4-8D93-7DB9E3716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2C70B-F866-412B-B78F-D1F10E997D88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F93A54-CB38-BEAF-260B-84EDDF301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71C9B-4171-4C73-A80D-52ACBE0B861D}" type="slidenum">
              <a:rPr lang="en-IN" smtClean="0"/>
              <a:t>‹#›</a:t>
            </a:fld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09FF10-A82A-AAEB-4B8C-921F3BA202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7773" y="1773857"/>
            <a:ext cx="5349064" cy="59014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4D3C6A-509A-8CB1-B220-1CE755BE2F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17773" y="2368476"/>
            <a:ext cx="5349064" cy="38587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627A15-4AB2-F230-22C7-0605AFD7DF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24796" y="1773857"/>
            <a:ext cx="5349240" cy="59014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1ECFD5-92D0-1854-D18E-8BC5DF56A7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24796" y="2368476"/>
            <a:ext cx="5349240" cy="38587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1AC07E-A077-E2A6-1718-DDDA542A8A98}"/>
              </a:ext>
            </a:extLst>
          </p:cNvPr>
          <p:cNvCxnSpPr>
            <a:cxnSpLocks/>
          </p:cNvCxnSpPr>
          <p:nvPr/>
        </p:nvCxnSpPr>
        <p:spPr>
          <a:xfrm>
            <a:off x="0" y="144282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75263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17042-CDCB-3B2F-8C5B-24B17903E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A4C6AE-702E-258F-EA5E-02906C70D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339AE3-ADB1-728F-9FBA-2FD43A0AC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2C70B-F866-412B-B78F-D1F10E997D88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965F4B-E6CF-D83A-1F1B-81274FD57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71C9B-4171-4C73-A80D-52ACBE0B86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238034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E52550-02A6-D7FB-DD57-70C87BAA4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02D272-B561-7F82-06FB-C5DE719AA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2C70B-F866-412B-B78F-D1F10E997D88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EF0FF0-3A36-A128-D75E-71A4B54CB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71C9B-4171-4C73-A80D-52ACBE0B86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987245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8A45ECA-9413-0F81-085A-48CF6F23E1DC}"/>
              </a:ext>
            </a:extLst>
          </p:cNvPr>
          <p:cNvCxnSpPr>
            <a:cxnSpLocks/>
          </p:cNvCxnSpPr>
          <p:nvPr/>
        </p:nvCxnSpPr>
        <p:spPr>
          <a:xfrm>
            <a:off x="0" y="2118492"/>
            <a:ext cx="12192000" cy="0"/>
          </a:xfrm>
          <a:prstGeom prst="line">
            <a:avLst/>
          </a:prstGeom>
          <a:ln w="9525">
            <a:solidFill>
              <a:schemeClr val="tx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832104"/>
            <a:ext cx="11253668" cy="1225296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6263640"/>
            <a:ext cx="2962656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1" y="6263640"/>
            <a:ext cx="1933553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982C70B-F866-412B-B78F-D1F10E997D88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63640"/>
            <a:ext cx="546447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AA71C9B-4171-4C73-A80D-52ACBE0B861D}" type="slidenum">
              <a:rPr lang="en-IN" smtClean="0"/>
              <a:t>‹#›</a:t>
            </a:fld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557" y="3429001"/>
            <a:ext cx="11253669" cy="277354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63841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60" y="1270390"/>
            <a:ext cx="7929980" cy="2060888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5" y="3794761"/>
            <a:ext cx="7932765" cy="153109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3482"/>
            <a:ext cx="2962656" cy="411480"/>
          </a:xfrm>
        </p:spPr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/>
          <a:lstStyle/>
          <a:p>
            <a:fld id="{3982C70B-F866-412B-B78F-D1F10E997D88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71C9B-4171-4C73-A80D-52ACBE0B861D}" type="slidenum">
              <a:rPr lang="en-IN" smtClean="0"/>
              <a:t>‹#›</a:t>
            </a:fld>
            <a:endParaRPr lang="en-I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4D168F9-DE00-B9C1-AD77-139DA8AF3364}"/>
              </a:ext>
            </a:extLst>
          </p:cNvPr>
          <p:cNvCxnSpPr>
            <a:cxnSpLocks/>
          </p:cNvCxnSpPr>
          <p:nvPr/>
        </p:nvCxnSpPr>
        <p:spPr>
          <a:xfrm>
            <a:off x="0" y="3434907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62198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B891C-B81F-79D5-A349-6FD408D14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F7011B-AD6A-58D7-439C-C8EEFBE2B1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666DB1-7726-E67D-0028-522AB6C09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2C70B-F866-412B-B78F-D1F10E997D88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AFA973-480C-E36D-9D94-F3124DE66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3971E-CB13-DEA7-9992-53A5BB4B1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71C9B-4171-4C73-A80D-52ACBE0B86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01539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398EFF-E3C5-E79D-1BD3-016E84949F9C}"/>
              </a:ext>
            </a:extLst>
          </p:cNvPr>
          <p:cNvCxnSpPr>
            <a:cxnSpLocks/>
          </p:cNvCxnSpPr>
          <p:nvPr/>
        </p:nvCxnSpPr>
        <p:spPr>
          <a:xfrm>
            <a:off x="0" y="78956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478947-1D67-18A4-7E48-5B4B2F97F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935798"/>
            <a:ext cx="11253668" cy="66569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FE08CA-9517-ABC1-E915-31EA6D7B73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0559" y="1707581"/>
            <a:ext cx="11253668" cy="48483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3983D-E783-AAEC-26DB-4B3F6511C7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7773" y="207982"/>
            <a:ext cx="2963692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850" b="1" cap="all" spc="100" baseline="0"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454426-0A97-D20B-FD06-9648AED777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80069" y="207982"/>
            <a:ext cx="1921315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850" b="1" cap="all" spc="100" baseline="0">
                <a:solidFill>
                  <a:schemeClr val="tx2"/>
                </a:solidFill>
              </a:defRPr>
            </a:lvl1pPr>
          </a:lstStyle>
          <a:p>
            <a:fld id="{3982C70B-F866-412B-B78F-D1F10E997D88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A13386-8E2A-2962-4804-81558038BA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88870" y="207982"/>
            <a:ext cx="546447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850" b="1" cap="all" baseline="0">
                <a:solidFill>
                  <a:schemeClr val="tx2"/>
                </a:solidFill>
              </a:defRPr>
            </a:lvl1pPr>
          </a:lstStyle>
          <a:p>
            <a:fld id="{8AA71C9B-4171-4C73-A80D-52ACBE0B861D}" type="slidenum">
              <a:rPr lang="en-IN" smtClean="0"/>
              <a:t>‹#›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143C14-E680-3360-0E4D-DA502AF50E85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9780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Classified as Microsoft Confidential</a:t>
            </a:r>
          </a:p>
        </p:txBody>
      </p:sp>
    </p:spTree>
    <p:extLst>
      <p:ext uri="{BB962C8B-B14F-4D97-AF65-F5344CB8AC3E}">
        <p14:creationId xmlns:p14="http://schemas.microsoft.com/office/powerpoint/2010/main" val="1838180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9" r:id="rId1"/>
    <p:sldLayoutId id="2147483910" r:id="rId2"/>
    <p:sldLayoutId id="2147483911" r:id="rId3"/>
    <p:sldLayoutId id="2147483912" r:id="rId4"/>
    <p:sldLayoutId id="2147483913" r:id="rId5"/>
    <p:sldLayoutId id="2147483914" r:id="rId6"/>
    <p:sldLayoutId id="2147483915" r:id="rId7"/>
    <p:sldLayoutId id="2147483916" r:id="rId8"/>
    <p:sldLayoutId id="2147483917" r:id="rId9"/>
    <p:sldLayoutId id="2147483918" r:id="rId10"/>
    <p:sldLayoutId id="2147483919" r:id="rId11"/>
    <p:sldLayoutId id="2147483920" r:id="rId12"/>
    <p:sldLayoutId id="2147483921" r:id="rId13"/>
    <p:sldLayoutId id="2147483922" r:id="rId14"/>
    <p:sldLayoutId id="2147483923" r:id="rId15"/>
    <p:sldLayoutId id="2147483924" r:id="rId16"/>
    <p:sldLayoutId id="2147483925" r:id="rId17"/>
    <p:sldLayoutId id="2147483926" r:id="rId18"/>
    <p:sldLayoutId id="2147483927" r:id="rId19"/>
    <p:sldLayoutId id="2147483928" r:id="rId20"/>
    <p:sldLayoutId id="2147483929" r:id="rId21"/>
    <p:sldLayoutId id="2147483930" r:id="rId22"/>
    <p:sldLayoutId id="2147483931" r:id="rId23"/>
    <p:sldLayoutId id="2147483932" r:id="rId24"/>
    <p:sldLayoutId id="2147483933" r:id="rId25"/>
    <p:sldLayoutId id="2147483934" r:id="rId26"/>
    <p:sldLayoutId id="2147483935" r:id="rId27"/>
    <p:sldLayoutId id="2147483936" r:id="rId28"/>
  </p:sldLayoutIdLst>
  <p:txStyles>
    <p:titleStyle>
      <a:lvl1pPr algn="l" defTabSz="914400" rtl="0" eaLnBrk="1" latinLnBrk="0" hangingPunct="1">
        <a:lnSpc>
          <a:spcPct val="70000"/>
        </a:lnSpc>
        <a:spcBef>
          <a:spcPct val="0"/>
        </a:spcBef>
        <a:buNone/>
        <a:defRPr sz="4000" kern="1200" cap="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80">
          <p15:clr>
            <a:srgbClr val="F26B43"/>
          </p15:clr>
        </p15:guide>
        <p15:guide id="2" pos="264">
          <p15:clr>
            <a:srgbClr val="F26B43"/>
          </p15:clr>
        </p15:guide>
        <p15:guide id="3" pos="7416">
          <p15:clr>
            <a:srgbClr val="F26B43"/>
          </p15:clr>
        </p15:guide>
        <p15:guide id="4" orient="horz" pos="3816">
          <p15:clr>
            <a:srgbClr val="F26B43"/>
          </p15:clr>
        </p15:guide>
        <p15:guide id="5" pos="7200">
          <p15:clr>
            <a:srgbClr val="F26B43"/>
          </p15:clr>
        </p15:guide>
        <p15:guide id="6" pos="504">
          <p15:clr>
            <a:srgbClr val="F26B43"/>
          </p15:clr>
        </p15:guide>
        <p15:guide id="7" orient="horz" pos="4128">
          <p15:clr>
            <a:srgbClr val="F26B43"/>
          </p15:clr>
        </p15:guide>
        <p15:guide id="8" orient="horz" pos="1056">
          <p15:clr>
            <a:srgbClr val="F26B43"/>
          </p15:clr>
        </p15:guide>
        <p15:guide id="9" pos="45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5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5.xml"/><Relationship Id="rId5" Type="http://schemas.openxmlformats.org/officeDocument/2006/relationships/chart" Target="../charts/chart8.xml"/><Relationship Id="rId4" Type="http://schemas.openxmlformats.org/officeDocument/2006/relationships/chart" Target="../charts/char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drive/156Jc2AgWd5OAyhkmuiNgQ9oVhrxW1qfn?usp=sharing" TargetMode="External"/><Relationship Id="rId2" Type="http://schemas.openxmlformats.org/officeDocument/2006/relationships/hyperlink" Target="https://github.com/Sivasubramaniyan161004/Quantrix_Round2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3F459-44AC-4F5E-3567-FC1F8E496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30" y="1646136"/>
            <a:ext cx="10515600" cy="1416152"/>
          </a:xfrm>
        </p:spPr>
        <p:txBody>
          <a:bodyPr>
            <a:normAutofit/>
          </a:bodyPr>
          <a:lstStyle/>
          <a:p>
            <a:r>
              <a:rPr lang="en-IN" sz="4000" dirty="0"/>
              <a:t>Predicting and Preventing Cancellations at StayWell Hotels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008BA0-0AA1-0314-ABA8-C73E656C1B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30" y="3163785"/>
            <a:ext cx="10515600" cy="1500187"/>
          </a:xfrm>
        </p:spPr>
        <p:txBody>
          <a:bodyPr/>
          <a:lstStyle/>
          <a:p>
            <a:r>
              <a:rPr lang="en-US" dirty="0"/>
              <a:t>Data Analysis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542912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D6E9-97A2-FFAA-73FC-2DEEF8585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571500"/>
            <a:ext cx="9922764" cy="935982"/>
          </a:xfrm>
        </p:spPr>
        <p:txBody>
          <a:bodyPr/>
          <a:lstStyle/>
          <a:p>
            <a:r>
              <a:rPr lang="en-US" dirty="0"/>
              <a:t>Basic analysis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558594-2EC0-5ADC-338B-BAEE6B1F49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4618" y="1979430"/>
            <a:ext cx="9922764" cy="416675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44224 of 119390 Bookings were Canceled</a:t>
            </a:r>
          </a:p>
          <a:p>
            <a:r>
              <a:rPr lang="en-IN" dirty="0"/>
              <a:t>Categories to analyse </a:t>
            </a:r>
          </a:p>
          <a:p>
            <a:pPr lvl="1"/>
            <a:r>
              <a:rPr lang="en-IN" dirty="0"/>
              <a:t>hotel </a:t>
            </a:r>
          </a:p>
          <a:p>
            <a:pPr lvl="1"/>
            <a:r>
              <a:rPr lang="en-IN" dirty="0" err="1"/>
              <a:t>deposit_type</a:t>
            </a:r>
            <a:endParaRPr lang="en-IN" dirty="0"/>
          </a:p>
          <a:p>
            <a:pPr lvl="1"/>
            <a:r>
              <a:rPr lang="en-IN" dirty="0" err="1"/>
              <a:t>market_segment</a:t>
            </a:r>
            <a:endParaRPr lang="en-IN" dirty="0"/>
          </a:p>
          <a:p>
            <a:pPr lvl="1"/>
            <a:r>
              <a:rPr lang="en-IN" dirty="0" err="1"/>
              <a:t>distribution_channel</a:t>
            </a:r>
            <a:endParaRPr lang="en-IN" dirty="0"/>
          </a:p>
          <a:p>
            <a:pPr lvl="1"/>
            <a:r>
              <a:rPr lang="en-IN" dirty="0" err="1"/>
              <a:t>lead_time_bucket</a:t>
            </a:r>
            <a:endParaRPr lang="en-IN" dirty="0"/>
          </a:p>
          <a:p>
            <a:pPr lvl="1"/>
            <a:r>
              <a:rPr lang="en-IN" dirty="0" err="1"/>
              <a:t>customer_type</a:t>
            </a:r>
            <a:endParaRPr lang="en-IN" dirty="0"/>
          </a:p>
          <a:p>
            <a:pPr lvl="1"/>
            <a:r>
              <a:rPr lang="en-IN" dirty="0" err="1"/>
              <a:t>previous_cancellations</a:t>
            </a:r>
            <a:endParaRPr lang="en-IN" dirty="0"/>
          </a:p>
          <a:p>
            <a:pPr lvl="1"/>
            <a:r>
              <a:rPr lang="en-IN" dirty="0" err="1"/>
              <a:t>booking_changes</a:t>
            </a:r>
            <a:endParaRPr lang="en-IN" dirty="0"/>
          </a:p>
          <a:p>
            <a:pPr lvl="1"/>
            <a:r>
              <a:rPr lang="en-IN" dirty="0" err="1"/>
              <a:t>has_company</a:t>
            </a:r>
            <a:r>
              <a:rPr lang="en-IN" dirty="0"/>
              <a:t> / </a:t>
            </a:r>
            <a:r>
              <a:rPr lang="en-IN" dirty="0" err="1"/>
              <a:t>has_agent</a:t>
            </a:r>
            <a:endParaRPr lang="en-IN" dirty="0"/>
          </a:p>
          <a:p>
            <a:pPr lvl="1"/>
            <a:r>
              <a:rPr lang="en-IN" dirty="0" err="1"/>
              <a:t>arrival_date_month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83402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ED2B1-F00D-379A-2A01-A4BE4B01A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Procedure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653C1-F0BF-4D29-AA3B-E142E67DAB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sz="1800" b="1" dirty="0"/>
              <a:t>Phase 1: Clean &amp; Prepare</a:t>
            </a:r>
          </a:p>
          <a:p>
            <a:pPr lvl="1"/>
            <a:r>
              <a:rPr lang="en-IN" sz="1800" dirty="0"/>
              <a:t>Load data and Inspect for –</a:t>
            </a:r>
            <a:r>
              <a:rPr lang="en-IN" sz="1800" dirty="0" err="1"/>
              <a:t>ve</a:t>
            </a:r>
            <a:r>
              <a:rPr lang="en-IN" sz="1800" dirty="0"/>
              <a:t> values</a:t>
            </a:r>
          </a:p>
          <a:p>
            <a:pPr lvl="1"/>
            <a:r>
              <a:rPr lang="en-IN" sz="1800" dirty="0"/>
              <a:t>Handle NULL values by Introducing Derived Columns with Binary data (</a:t>
            </a:r>
            <a:r>
              <a:rPr lang="en-IN" sz="1800" dirty="0" err="1"/>
              <a:t>has_agent</a:t>
            </a:r>
            <a:r>
              <a:rPr lang="en-IN" sz="1800" dirty="0"/>
              <a:t> / </a:t>
            </a:r>
            <a:r>
              <a:rPr lang="en-IN" sz="1800" dirty="0" err="1"/>
              <a:t>has_company</a:t>
            </a:r>
            <a:r>
              <a:rPr lang="en-IN" sz="1800" dirty="0"/>
              <a:t>)</a:t>
            </a:r>
            <a:endParaRPr lang="en-IN" sz="1800" b="1" dirty="0"/>
          </a:p>
          <a:p>
            <a:r>
              <a:rPr lang="en-IN" sz="1800" b="1" dirty="0"/>
              <a:t>Phase 2: Outlier Detection</a:t>
            </a:r>
          </a:p>
          <a:p>
            <a:pPr lvl="1"/>
            <a:r>
              <a:rPr lang="en-IN" sz="1800" dirty="0"/>
              <a:t>Use IQR method to remove outliers (Eg: </a:t>
            </a:r>
            <a:r>
              <a:rPr lang="en-IN" sz="1800" dirty="0" err="1"/>
              <a:t>adr</a:t>
            </a:r>
            <a:r>
              <a:rPr lang="en-IN" sz="1800" dirty="0"/>
              <a:t> had 5400 value which is a outlier and has to be removed)</a:t>
            </a:r>
          </a:p>
          <a:p>
            <a:r>
              <a:rPr lang="en-IN" sz="1800" b="1" dirty="0"/>
              <a:t>Phase 3: Diagnose – Find category that drive cancellations</a:t>
            </a:r>
          </a:p>
          <a:p>
            <a:pPr lvl="1"/>
            <a:r>
              <a:rPr lang="en-IN" sz="1800" dirty="0"/>
              <a:t>Use mean , Count to find impact score between each category and </a:t>
            </a:r>
            <a:r>
              <a:rPr lang="en-IN" sz="1800" dirty="0" err="1"/>
              <a:t>is_cancelled</a:t>
            </a:r>
            <a:endParaRPr lang="en-IN" sz="1800" dirty="0"/>
          </a:p>
          <a:p>
            <a:pPr lvl="1"/>
            <a:r>
              <a:rPr lang="en-IN" sz="1800" dirty="0"/>
              <a:t>If a category has high impact score and high rate of cancellation then is a driving factor</a:t>
            </a:r>
          </a:p>
          <a:p>
            <a:r>
              <a:rPr lang="en-US" sz="1800" b="1" dirty="0"/>
              <a:t>Phase 4 – Calculate Revenue Impact:</a:t>
            </a:r>
          </a:p>
          <a:p>
            <a:pPr lvl="1"/>
            <a:r>
              <a:rPr lang="en-IN" sz="1800" dirty="0"/>
              <a:t>this tells you which segments are proportionally the most damaging regardless of size.  </a:t>
            </a:r>
            <a:r>
              <a:rPr lang="en-US" sz="1800" dirty="0"/>
              <a:t> </a:t>
            </a:r>
          </a:p>
          <a:p>
            <a:r>
              <a:rPr lang="en-US" sz="1800" b="1" dirty="0"/>
              <a:t>Phase 5 – Findings and Strategy Formulation</a:t>
            </a:r>
          </a:p>
          <a:p>
            <a:pPr lvl="1"/>
            <a:r>
              <a:rPr lang="en-US" sz="1800" dirty="0"/>
              <a:t>Using the Loss in revenue and impact score in cancellations we can find major drivers</a:t>
            </a:r>
          </a:p>
          <a:p>
            <a:pPr lvl="1"/>
            <a:r>
              <a:rPr lang="en-US" sz="1800" dirty="0"/>
              <a:t>Make Suggestions on how to avoid these cancellations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IN" b="1" dirty="0"/>
          </a:p>
          <a:p>
            <a:endParaRPr lang="en-IN" b="1" dirty="0"/>
          </a:p>
          <a:p>
            <a:endParaRPr lang="en-IN" dirty="0"/>
          </a:p>
          <a:p>
            <a:endParaRPr lang="en-IN" dirty="0"/>
          </a:p>
          <a:p>
            <a:pPr lvl="1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15456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24534-2CDB-6F16-93D3-D516E64B6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981" y="352827"/>
            <a:ext cx="10840626" cy="790510"/>
          </a:xfrm>
        </p:spPr>
        <p:txBody>
          <a:bodyPr>
            <a:normAutofit fontScale="90000"/>
          </a:bodyPr>
          <a:lstStyle/>
          <a:p>
            <a:r>
              <a:rPr lang="en-US" dirty="0"/>
              <a:t>Impact Score Tables: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FE83650-342D-D840-A14A-FE8F845193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99768" y="1818968"/>
            <a:ext cx="4277032" cy="443434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633EF96-26FF-8031-288A-70D6F36A58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5939" y="1818968"/>
            <a:ext cx="3293326" cy="449716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083F9E4-43A8-19D4-717C-CF6A5368F0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6748" y="1818968"/>
            <a:ext cx="3553860" cy="3500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37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4914C-87CE-38F2-1DD9-8D8F9383FB4A}"/>
              </a:ext>
            </a:extLst>
          </p:cNvPr>
          <p:cNvSpPr txBox="1">
            <a:spLocks/>
          </p:cNvSpPr>
          <p:nvPr/>
        </p:nvSpPr>
        <p:spPr>
          <a:xfrm>
            <a:off x="838200" y="201561"/>
            <a:ext cx="10515600" cy="10520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70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Graphs – Revenue Loss</a:t>
            </a:r>
            <a:endParaRPr lang="en-IN" dirty="0"/>
          </a:p>
        </p:txBody>
      </p:sp>
      <p:graphicFrame>
        <p:nvGraphicFramePr>
          <p:cNvPr id="3" name="Content Placeholder 4">
            <a:extLst>
              <a:ext uri="{FF2B5EF4-FFF2-40B4-BE49-F238E27FC236}">
                <a16:creationId xmlns:a16="http://schemas.microsoft.com/office/drawing/2014/main" id="{25C31DE4-7FF6-C77A-C8E0-E30116ACD04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98408618"/>
              </p:ext>
            </p:extLst>
          </p:nvPr>
        </p:nvGraphicFramePr>
        <p:xfrm>
          <a:off x="838200" y="1214284"/>
          <a:ext cx="3202858" cy="26547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E9808DDF-6D71-387A-10CC-E029142F918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2263851"/>
              </p:ext>
            </p:extLst>
          </p:nvPr>
        </p:nvGraphicFramePr>
        <p:xfrm>
          <a:off x="6582755" y="1214284"/>
          <a:ext cx="3984887" cy="27808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7AF8EC15-BEE3-14EC-0200-EE27A198D8C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59732603"/>
              </p:ext>
            </p:extLst>
          </p:nvPr>
        </p:nvGraphicFramePr>
        <p:xfrm>
          <a:off x="6663164" y="4035321"/>
          <a:ext cx="3824067" cy="257440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5F44CCB4-4B01-7FB2-5CCC-F26D40DCA00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29458794"/>
              </p:ext>
            </p:extLst>
          </p:nvPr>
        </p:nvGraphicFramePr>
        <p:xfrm>
          <a:off x="838200" y="3995171"/>
          <a:ext cx="3472683" cy="26547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065047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1B097-9825-D306-A57F-3AD2F9962263}"/>
              </a:ext>
            </a:extLst>
          </p:cNvPr>
          <p:cNvSpPr txBox="1">
            <a:spLocks/>
          </p:cNvSpPr>
          <p:nvPr/>
        </p:nvSpPr>
        <p:spPr>
          <a:xfrm>
            <a:off x="838200" y="378254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70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Graphs – Revenue Loss</a:t>
            </a:r>
            <a:endParaRPr lang="en-IN" dirty="0"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7A40EB3B-96FF-AFC9-201E-87DE60AE2D9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97343099"/>
              </p:ext>
            </p:extLst>
          </p:nvPr>
        </p:nvGraphicFramePr>
        <p:xfrm>
          <a:off x="530567" y="3795252"/>
          <a:ext cx="4149213" cy="28513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468FF555-212D-888A-5DC1-0B6914B26ED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81553042"/>
              </p:ext>
            </p:extLst>
          </p:nvPr>
        </p:nvGraphicFramePr>
        <p:xfrm>
          <a:off x="6096000" y="3849519"/>
          <a:ext cx="4546294" cy="27542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4A4989F2-2C41-85A2-3D31-97171B4142F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39588583"/>
              </p:ext>
            </p:extLst>
          </p:nvPr>
        </p:nvGraphicFramePr>
        <p:xfrm>
          <a:off x="717005" y="1271296"/>
          <a:ext cx="3776335" cy="257822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0349298-D8FF-1EFA-678D-5C5EFC69651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18857182"/>
              </p:ext>
            </p:extLst>
          </p:nvPr>
        </p:nvGraphicFramePr>
        <p:xfrm>
          <a:off x="6096000" y="1095302"/>
          <a:ext cx="4543999" cy="275421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3809741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30FD-175B-B269-2CF6-D2F715419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529806"/>
            <a:ext cx="9922764" cy="935982"/>
          </a:xfrm>
        </p:spPr>
        <p:txBody>
          <a:bodyPr/>
          <a:lstStyle/>
          <a:p>
            <a:r>
              <a:rPr lang="en-US" dirty="0"/>
              <a:t>Drivers for cancellation</a:t>
            </a:r>
            <a:endParaRPr lang="en-IN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10AFC0C-B4A8-DF5E-F19F-2F1BD63FC98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3983112"/>
              </p:ext>
            </p:extLst>
          </p:nvPr>
        </p:nvGraphicFramePr>
        <p:xfrm>
          <a:off x="1088136" y="1878114"/>
          <a:ext cx="9923465" cy="445008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984693">
                  <a:extLst>
                    <a:ext uri="{9D8B030D-6E8A-4147-A177-3AD203B41FA5}">
                      <a16:colId xmlns:a16="http://schemas.microsoft.com/office/drawing/2014/main" val="3423353901"/>
                    </a:ext>
                  </a:extLst>
                </a:gridCol>
                <a:gridCol w="1984693">
                  <a:extLst>
                    <a:ext uri="{9D8B030D-6E8A-4147-A177-3AD203B41FA5}">
                      <a16:colId xmlns:a16="http://schemas.microsoft.com/office/drawing/2014/main" val="1354926649"/>
                    </a:ext>
                  </a:extLst>
                </a:gridCol>
                <a:gridCol w="1984693">
                  <a:extLst>
                    <a:ext uri="{9D8B030D-6E8A-4147-A177-3AD203B41FA5}">
                      <a16:colId xmlns:a16="http://schemas.microsoft.com/office/drawing/2014/main" val="672265947"/>
                    </a:ext>
                  </a:extLst>
                </a:gridCol>
                <a:gridCol w="1984693">
                  <a:extLst>
                    <a:ext uri="{9D8B030D-6E8A-4147-A177-3AD203B41FA5}">
                      <a16:colId xmlns:a16="http://schemas.microsoft.com/office/drawing/2014/main" val="1407871855"/>
                    </a:ext>
                  </a:extLst>
                </a:gridCol>
                <a:gridCol w="1984693">
                  <a:extLst>
                    <a:ext uri="{9D8B030D-6E8A-4147-A177-3AD203B41FA5}">
                      <a16:colId xmlns:a16="http://schemas.microsoft.com/office/drawing/2014/main" val="33590619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5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Driver</a:t>
                      </a:r>
                      <a:endParaRPr lang="en-IN" sz="115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5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Cancellation Rate</a:t>
                      </a:r>
                      <a:endParaRPr lang="en-IN" sz="115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5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Bookings Affected</a:t>
                      </a:r>
                      <a:endParaRPr lang="en-IN" sz="115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5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Revenue Lost</a:t>
                      </a:r>
                      <a:endParaRPr lang="en-IN" sz="115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5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Loss %</a:t>
                      </a:r>
                      <a:endParaRPr lang="en-IN" sz="115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extLst>
                  <a:ext uri="{0D108BD9-81ED-4DB2-BD59-A6C34878D82A}">
                    <a16:rowId xmlns:a16="http://schemas.microsoft.com/office/drawing/2014/main" val="2168588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Non-Refund deposit</a:t>
                      </a:r>
                      <a:endParaRPr lang="en-IN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99.4%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14,585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₹3,598,607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99.53%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extLst>
                  <a:ext uri="{0D108BD9-81ED-4DB2-BD59-A6C34878D82A}">
                    <a16:rowId xmlns:a16="http://schemas.microsoft.com/office/drawing/2014/main" val="101354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Repeat cancellers (previous cancellations ≥ 1)</a:t>
                      </a:r>
                      <a:endParaRPr lang="en-IN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94.4%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6,050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$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1,341,743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9</a:t>
                      </a: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5.2%</a:t>
                      </a:r>
                    </a:p>
                  </a:txBody>
                  <a:tcPr marL="7191" marR="7191" marT="7620" marB="0" anchor="ctr"/>
                </a:tc>
                <a:extLst>
                  <a:ext uri="{0D108BD9-81ED-4DB2-BD59-A6C34878D82A}">
                    <a16:rowId xmlns:a16="http://schemas.microsoft.com/office/drawing/2014/main" val="224911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Groups (market segment)</a:t>
                      </a:r>
                      <a:endParaRPr lang="en-IN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61.1%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19,783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$2,799,864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60.18%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extLst>
                  <a:ext uri="{0D108BD9-81ED-4DB2-BD59-A6C34878D82A}">
                    <a16:rowId xmlns:a16="http://schemas.microsoft.com/office/drawing/2014/main" val="6623834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City Hotel (Hotel type)</a:t>
                      </a:r>
                      <a:endParaRPr lang="en-IN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41.7%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79,275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$10,866,064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43.09%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extLst>
                  <a:ext uri="{0D108BD9-81ED-4DB2-BD59-A6C34878D82A}">
                    <a16:rowId xmlns:a16="http://schemas.microsoft.com/office/drawing/2014/main" val="18583119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Online TA (market segment)</a:t>
                      </a:r>
                      <a:endParaRPr lang="en-IN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36.7%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56,283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$10,100,106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42.67%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extLst>
                  <a:ext uri="{0D108BD9-81ED-4DB2-BD59-A6C34878D82A}">
                    <a16:rowId xmlns:a16="http://schemas.microsoft.com/office/drawing/2014/main" val="1935297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TA/TO (distribution channel)</a:t>
                      </a:r>
                      <a:endParaRPr lang="en-IN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41.0%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97,665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$15,153,632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42.33%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extLst>
                  <a:ext uri="{0D108BD9-81ED-4DB2-BD59-A6C34878D82A}">
                    <a16:rowId xmlns:a16="http://schemas.microsoft.com/office/drawing/2014/main" val="6264336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Transient (customer type)</a:t>
                      </a:r>
                      <a:endParaRPr lang="en-IN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40.8%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89,327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$14,704,241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43.53%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extLst>
                  <a:ext uri="{0D108BD9-81ED-4DB2-BD59-A6C34878D82A}">
                    <a16:rowId xmlns:a16="http://schemas.microsoft.com/office/drawing/2014/main" val="28934808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Has Agent = Yes</a:t>
                      </a:r>
                      <a:endParaRPr lang="en-IN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39.0%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102,777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$15,435,507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40.08%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extLst>
                  <a:ext uri="{0D108BD9-81ED-4DB2-BD59-A6C34878D82A}">
                    <a16:rowId xmlns:a16="http://schemas.microsoft.com/office/drawing/2014/main" val="8986750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0 Booking Changes</a:t>
                      </a:r>
                      <a:endParaRPr lang="en-IN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40.9%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101,000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$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5,149,843</a:t>
                      </a: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</a:t>
                      </a: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3.23%</a:t>
                      </a:r>
                    </a:p>
                  </a:txBody>
                  <a:tcPr marL="7191" marR="7191" marT="7620" marB="0" anchor="ctr"/>
                </a:tc>
                <a:extLst>
                  <a:ext uri="{0D108BD9-81ED-4DB2-BD59-A6C34878D82A}">
                    <a16:rowId xmlns:a16="http://schemas.microsoft.com/office/drawing/2014/main" val="31951620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Peak season (Apr–Jun)</a:t>
                      </a:r>
                      <a:endParaRPr lang="en-IN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—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33,797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$5,226,553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42.43%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extLst>
                  <a:ext uri="{0D108BD9-81ED-4DB2-BD59-A6C34878D82A}">
                    <a16:rowId xmlns:a16="http://schemas.microsoft.com/office/drawing/2014/main" val="39372978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Has Company = No (contrast — higher risk)</a:t>
                      </a:r>
                      <a:endParaRPr lang="en-IN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38.2%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112,267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$16,359,229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39.74%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191" marR="7191" marT="7620" marB="0" anchor="ctr"/>
                </a:tc>
                <a:extLst>
                  <a:ext uri="{0D108BD9-81ED-4DB2-BD59-A6C34878D82A}">
                    <a16:rowId xmlns:a16="http://schemas.microsoft.com/office/drawing/2014/main" val="445232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3262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5A4EE-C200-18F7-F4A2-411744FFB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6E870A-04BC-A4E1-41AC-98E0316810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IN" sz="2100" b="1" dirty="0"/>
              <a:t>Deposit Type — Non-Refundable</a:t>
            </a:r>
            <a:r>
              <a:rPr lang="en-IN" sz="2100" dirty="0"/>
              <a:t>: 99.4% cancellation rate (14,585 bookings) — near-total cancellation despite being </a:t>
            </a:r>
            <a:r>
              <a:rPr lang="en-IN" sz="2100" dirty="0" err="1"/>
              <a:t>labeled</a:t>
            </a:r>
            <a:r>
              <a:rPr lang="en-IN" sz="2100" dirty="0"/>
              <a:t> "non-refundable." Your strongest, most counterintuitive finding.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sz="2100" b="1" dirty="0"/>
              <a:t>Previous Cancellations ≥1</a:t>
            </a:r>
            <a:r>
              <a:rPr lang="en-IN" sz="2100" dirty="0"/>
              <a:t>: 94.4% rate (6,050 bookings) — guests who've cancelled before almost always cancel again. Small volume but extremely high predictive confidence.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sz="2100" b="1" dirty="0"/>
              <a:t>Market Segment — Groups</a:t>
            </a:r>
            <a:r>
              <a:rPr lang="en-IN" sz="2100" dirty="0"/>
              <a:t>: 61.1% rate (19,783 bookings) — highest genuine rate among all market segments (not Online TA, which sits at baseline).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sz="2100" b="1" dirty="0"/>
              <a:t>Hotel Type — City Hotel</a:t>
            </a:r>
            <a:r>
              <a:rPr lang="en-IN" sz="2100" dirty="0"/>
              <a:t>: 41.7% rate vs Resort's 27.7% (79,275 vs 39,787 bookings) — City Hotel has both a higher rate and higher volume, making it your largest overall problem area.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sz="2100" b="1" dirty="0"/>
              <a:t>Distribution Channel — TA/TO</a:t>
            </a:r>
            <a:r>
              <a:rPr lang="en-IN" sz="2100" dirty="0"/>
              <a:t>: 41.0% rate (97,665 bookings) — largest channel by volume and above-baseline rate.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sz="2100" b="1" dirty="0"/>
              <a:t>Customer Type — Transient</a:t>
            </a:r>
            <a:r>
              <a:rPr lang="en-IN" sz="2100" dirty="0"/>
              <a:t>: 40.8% rate (89,327 bookings) — largest customer-type segment, cancels above baseline.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sz="2100" b="1" dirty="0"/>
              <a:t>Has Agent = True</a:t>
            </a:r>
            <a:r>
              <a:rPr lang="en-IN" sz="2100" dirty="0"/>
              <a:t>: 39.0% rate (102,777 bookings) — agent-booked stays cancel more than direct (24.7%); likely overlapping population with the TA/TO finding above.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sz="2100" b="1" dirty="0"/>
              <a:t>Booking Changes = 0</a:t>
            </a:r>
            <a:r>
              <a:rPr lang="en-IN" sz="2100" dirty="0"/>
              <a:t>: 40.8% rate (~101,000 bookings) — guests who never amend their booking cancel far more than those who make 1+ changes (14–20%). Engagement with the booking correlates with commitment.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sz="2100" b="1" dirty="0"/>
              <a:t>Seasonality — Peak season (Apr–Aug)</a:t>
            </a:r>
            <a:r>
              <a:rPr lang="en-IN" sz="2100" dirty="0"/>
              <a:t>: Rates of 37.5–41.5% vs 30.5–35.1% in Nov–Feb — cancellations are </a:t>
            </a:r>
            <a:r>
              <a:rPr lang="en-IN" sz="2100" i="1" dirty="0"/>
              <a:t>higher</a:t>
            </a:r>
            <a:r>
              <a:rPr lang="en-IN" sz="2100" dirty="0"/>
              <a:t> exactly when hotels stand to lose the most revenue (peak pricing season).</a:t>
            </a:r>
          </a:p>
          <a:p>
            <a:pPr marL="514350" indent="-514350">
              <a:buFont typeface="+mj-lt"/>
              <a:buAutoNum type="arabicPeriod"/>
            </a:pPr>
            <a:r>
              <a:rPr lang="en-IN" sz="2100" b="1" dirty="0"/>
              <a:t>Booked by Company -</a:t>
            </a:r>
            <a:r>
              <a:rPr lang="en-IN" sz="2100" dirty="0"/>
              <a:t> If Booked by a company cancellation process rate is low (17%) else it is high (38.2%) but this is not a driver of cancellation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443941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872F9-B3E5-ADA1-A542-524886EC6460}"/>
              </a:ext>
            </a:extLst>
          </p:cNvPr>
          <p:cNvSpPr txBox="1">
            <a:spLocks/>
          </p:cNvSpPr>
          <p:nvPr/>
        </p:nvSpPr>
        <p:spPr>
          <a:xfrm>
            <a:off x="838200" y="792392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70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Steps to Take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2E935-DD59-8A41-C936-E22B4F2633FB}"/>
              </a:ext>
            </a:extLst>
          </p:cNvPr>
          <p:cNvSpPr txBox="1">
            <a:spLocks/>
          </p:cNvSpPr>
          <p:nvPr/>
        </p:nvSpPr>
        <p:spPr>
          <a:xfrm>
            <a:off x="641555" y="1602658"/>
            <a:ext cx="10515600" cy="5144576"/>
          </a:xfrm>
          <a:prstGeom prst="rect">
            <a:avLst/>
          </a:prstGeom>
        </p:spPr>
        <p:txBody>
          <a:bodyPr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/>
            </a:pPr>
            <a:r>
              <a:rPr lang="en-IN" sz="2100" dirty="0"/>
              <a:t>Prioritize City Hotel in your implementation sequencing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100" dirty="0"/>
              <a:t>charge the card at time of booking, not at check-in, so "non-refundable" has real teeth. (Fixes Non-Refundable cancels)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100" dirty="0"/>
              <a:t>Auto-flag at booking: if </a:t>
            </a:r>
            <a:r>
              <a:rPr lang="en-IN" sz="2100" dirty="0" err="1"/>
              <a:t>previous_cancellations</a:t>
            </a:r>
            <a:r>
              <a:rPr lang="en-IN" sz="2100" dirty="0"/>
              <a:t> &gt; 0, require prepayment or a mandatory confirmation call before the reservation is finalized. (Most cancels by people already cancelled)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100" dirty="0"/>
              <a:t>For Groups: </a:t>
            </a:r>
          </a:p>
          <a:p>
            <a:pPr lvl="1"/>
            <a:r>
              <a:rPr lang="en-IN" sz="2100" dirty="0"/>
              <a:t>Tiered deposit by group size: e.g., 20% deposit for 5+ rooms, scaling up for larger blocks. </a:t>
            </a:r>
          </a:p>
          <a:p>
            <a:pPr lvl="1"/>
            <a:r>
              <a:rPr lang="en-IN" sz="2100" dirty="0"/>
              <a:t>Mandatory reconfirmation 14–21 days before arrival — group organizers often lose track of headcount changes.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100" dirty="0"/>
              <a:t>Frame it as a value-add, not a warning — "confirm your stay to unlock late checkout" — encourages engagement without alarming genuine guests.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100" dirty="0"/>
              <a:t>The real fix is treating "City Hotel + TA/TO + Transient" as one combined risk profile. 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100" dirty="0"/>
              <a:t>Negotiate stricter cancellation terms with high-volume OTA partners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100" dirty="0"/>
              <a:t>Reduce "free cancellation" default visibility for OTA listings where StayWell controls the rate plan.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100" dirty="0"/>
              <a:t>Loyalty/incentive nudges at booking (small perk for confirming, e.g., free breakfast) to increase commitment — cheaper than losing the room entirely. Also can increase chance to book again.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100" dirty="0"/>
              <a:t>If we can move X% of Transient bookings toward corporate-style commitment (deposits, contracts), we'd expect cancellation rates to fall toward 18-20%. This is worth a sales push.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N" dirty="0"/>
          </a:p>
          <a:p>
            <a:pPr marL="0" indent="0">
              <a:buFont typeface="Arial" panose="020B0604020202020204" pitchFamily="34" charset="0"/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395861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2BABE-D6F3-E39B-197D-D2A331933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D8B54-86A3-C229-8A70-1013B82059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400" b="1" dirty="0"/>
              <a:t>Build a real-time cancellation-risk score</a:t>
            </a:r>
            <a:r>
              <a:rPr lang="en-IN" sz="2400" dirty="0"/>
              <a:t> at booking, combining </a:t>
            </a:r>
            <a:r>
              <a:rPr lang="en-IN" sz="2400" dirty="0" err="1"/>
              <a:t>deposit_type</a:t>
            </a:r>
            <a:r>
              <a:rPr lang="en-IN" sz="2400" dirty="0"/>
              <a:t> + </a:t>
            </a:r>
            <a:r>
              <a:rPr lang="en-IN" sz="2400" dirty="0" err="1"/>
              <a:t>market_segment</a:t>
            </a:r>
            <a:r>
              <a:rPr lang="en-IN" sz="2400" dirty="0"/>
              <a:t> + </a:t>
            </a:r>
            <a:r>
              <a:rPr lang="en-IN" sz="2400" dirty="0" err="1"/>
              <a:t>previous_cancellations</a:t>
            </a:r>
            <a:r>
              <a:rPr lang="en-IN" sz="2400" dirty="0"/>
              <a:t> + </a:t>
            </a:r>
            <a:r>
              <a:rPr lang="en-IN" sz="2400" dirty="0" err="1"/>
              <a:t>booking_changes</a:t>
            </a:r>
            <a:r>
              <a:rPr lang="en-IN" sz="2400" dirty="0"/>
              <a:t> — even a simple rules-based flag lets front-desk/revenue teams prioritize which bookings need a confirmation call, rather than treating every booking equally.</a:t>
            </a:r>
            <a:endParaRPr lang="en-IN" sz="2400" b="1" dirty="0"/>
          </a:p>
          <a:p>
            <a:endParaRPr lang="en-IN" sz="2400" b="1" dirty="0"/>
          </a:p>
          <a:p>
            <a:r>
              <a:rPr lang="en-IN" sz="2400" b="1" dirty="0"/>
              <a:t>Dynamic overbooking buffer</a:t>
            </a:r>
            <a:r>
              <a:rPr lang="en-IN" sz="2400" dirty="0"/>
              <a:t>, calibrated per hotel and segment (higher buffer for City Hotel + TA/TO + Groups, lower for Corporate/Resort) to recover some of the revenue currently lost to empty-room cancellations.</a:t>
            </a:r>
          </a:p>
        </p:txBody>
      </p:sp>
    </p:spTree>
    <p:extLst>
      <p:ext uri="{BB962C8B-B14F-4D97-AF65-F5344CB8AC3E}">
        <p14:creationId xmlns:p14="http://schemas.microsoft.com/office/powerpoint/2010/main" val="34549261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3A862-592A-A0E8-A3AF-9F4444DE2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 &amp; Links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C00BBE-C113-0254-73CC-1DDF80BA61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Tools</a:t>
            </a:r>
          </a:p>
          <a:p>
            <a:pPr lvl="1"/>
            <a:r>
              <a:rPr lang="en-US" sz="2000" dirty="0"/>
              <a:t>Python</a:t>
            </a:r>
          </a:p>
          <a:p>
            <a:pPr lvl="1"/>
            <a:r>
              <a:rPr lang="en-US" sz="2000" dirty="0"/>
              <a:t>Google </a:t>
            </a:r>
            <a:r>
              <a:rPr lang="en-US" sz="2000" dirty="0" err="1"/>
              <a:t>Colab</a:t>
            </a:r>
            <a:endParaRPr lang="en-US" sz="2000" dirty="0"/>
          </a:p>
          <a:p>
            <a:pPr lvl="1"/>
            <a:r>
              <a:rPr lang="en-US" sz="2000" dirty="0"/>
              <a:t>Excel</a:t>
            </a:r>
          </a:p>
          <a:p>
            <a:r>
              <a:rPr lang="en-US" sz="2400" dirty="0"/>
              <a:t>Links</a:t>
            </a:r>
          </a:p>
          <a:p>
            <a:pPr lvl="1"/>
            <a:r>
              <a:rPr lang="en-US" sz="2000" dirty="0" err="1"/>
              <a:t>Github</a:t>
            </a:r>
            <a:r>
              <a:rPr lang="en-US" sz="2000" dirty="0"/>
              <a:t> repo: </a:t>
            </a:r>
            <a:r>
              <a:rPr lang="en-US" sz="2000" dirty="0">
                <a:hlinkClick r:id="rId2"/>
              </a:rPr>
              <a:t>https://github.com/Sivasubramaniyan161004/Quantrix_Round2</a:t>
            </a:r>
            <a:endParaRPr lang="en-US" sz="2000" dirty="0"/>
          </a:p>
          <a:p>
            <a:pPr lvl="1"/>
            <a:r>
              <a:rPr lang="en-US" sz="2000" dirty="0"/>
              <a:t>Google </a:t>
            </a:r>
            <a:r>
              <a:rPr lang="en-US" sz="2000" dirty="0" err="1"/>
              <a:t>Colab</a:t>
            </a:r>
            <a:r>
              <a:rPr lang="en-US" sz="2000" dirty="0"/>
              <a:t>: </a:t>
            </a:r>
            <a:r>
              <a:rPr lang="en-US" sz="2000" dirty="0">
                <a:hlinkClick r:id="rId3"/>
              </a:rPr>
              <a:t>https://colab.research.google.com/drive/156Jc2AgWd5OAyhkmuiNgQ9oVhrxW1qfn?usp=sharing</a:t>
            </a:r>
            <a:endParaRPr lang="en-US" sz="2000" dirty="0"/>
          </a:p>
          <a:p>
            <a:endParaRPr lang="en-US" sz="2400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9297889"/>
      </p:ext>
    </p:extLst>
  </p:cSld>
  <p:clrMapOvr>
    <a:masterClrMapping/>
  </p:clrMapOvr>
</p:sld>
</file>

<file path=ppt/theme/theme1.xml><?xml version="1.0" encoding="utf-8"?>
<a:theme xmlns:a="http://schemas.openxmlformats.org/drawingml/2006/main" name="Editorial">
  <a:themeElements>
    <a:clrScheme name="Editorial">
      <a:dk1>
        <a:sysClr val="windowText" lastClr="000000"/>
      </a:dk1>
      <a:lt1>
        <a:sysClr val="window" lastClr="FFFFFF"/>
      </a:lt1>
      <a:dk2>
        <a:srgbClr val="171717"/>
      </a:dk2>
      <a:lt2>
        <a:srgbClr val="F7F6F3"/>
      </a:lt2>
      <a:accent1>
        <a:srgbClr val="C8350F"/>
      </a:accent1>
      <a:accent2>
        <a:srgbClr val="B6A992"/>
      </a:accent2>
      <a:accent3>
        <a:srgbClr val="D59A6D"/>
      </a:accent3>
      <a:accent4>
        <a:srgbClr val="C7793D"/>
      </a:accent4>
      <a:accent5>
        <a:srgbClr val="DB8464"/>
      </a:accent5>
      <a:accent6>
        <a:srgbClr val="3F7699"/>
      </a:accent6>
      <a:hlink>
        <a:srgbClr val="C8350F"/>
      </a:hlink>
      <a:folHlink>
        <a:srgbClr val="DB8464"/>
      </a:folHlink>
    </a:clrScheme>
    <a:fontScheme name="Custom 22">
      <a:majorFont>
        <a:latin typeface="Haettenschweiler"/>
        <a:ea typeface=""/>
        <a:cs typeface=""/>
      </a:majorFont>
      <a:minorFont>
        <a:latin typeface="Trade Gothic Nex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Editorial" id="{71EC1670-473B-4381-BA1C-B02CC96DD716}" vid="{C5D3EF77-ADD0-40FD-A769-C339DAE739D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Editorial</Template>
  <TotalTime>550</TotalTime>
  <Words>1103</Words>
  <Application>Microsoft Office PowerPoint</Application>
  <PresentationFormat>Widescreen</PresentationFormat>
  <Paragraphs>142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Arial</vt:lpstr>
      <vt:lpstr>Calibri</vt:lpstr>
      <vt:lpstr>Haettenschweiler</vt:lpstr>
      <vt:lpstr>Trade Gothic Next Light</vt:lpstr>
      <vt:lpstr>Editorial</vt:lpstr>
      <vt:lpstr>Predicting and Preventing Cancellations at StayWell Hotels </vt:lpstr>
      <vt:lpstr>Basic analysis</vt:lpstr>
      <vt:lpstr>Procedure</vt:lpstr>
      <vt:lpstr>Impact Score Tables:</vt:lpstr>
      <vt:lpstr>PowerPoint Presentation</vt:lpstr>
      <vt:lpstr>PowerPoint Presentation</vt:lpstr>
      <vt:lpstr>Drivers for cancellation</vt:lpstr>
      <vt:lpstr>Findings</vt:lpstr>
      <vt:lpstr>PowerPoint Presentation</vt:lpstr>
      <vt:lpstr>Solutions</vt:lpstr>
      <vt:lpstr>Tools &amp; Links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Sivasubramaniyan C</dc:creator>
  <cp:lastModifiedBy>Sivasubramaniyan C</cp:lastModifiedBy>
  <cp:revision>9</cp:revision>
  <dcterms:created xsi:type="dcterms:W3CDTF">2026-08-10T19:26:29Z</dcterms:created>
  <dcterms:modified xsi:type="dcterms:W3CDTF">2026-08-11T19:02:04Z</dcterms:modified>
</cp:coreProperties>
</file>