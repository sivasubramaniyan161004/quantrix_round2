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notesMasterIdLst>
    <p:notesMasterId r:id="rId13"/>
  </p:notesMasterIdLst>
  <p:sldIdLst>
    <p:sldId id="268" r:id="rId2"/>
    <p:sldId id="257" r:id="rId3"/>
    <p:sldId id="259" r:id="rId4"/>
    <p:sldId id="267" r:id="rId5"/>
    <p:sldId id="269" r:id="rId6"/>
    <p:sldId id="270" r:id="rId7"/>
    <p:sldId id="261" r:id="rId8"/>
    <p:sldId id="258" r:id="rId9"/>
    <p:sldId id="271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va\Desktop\Tables%20&amp;%20Char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Based on</a:t>
            </a:r>
            <a:r>
              <a:rPr lang="en-IN" baseline="0"/>
              <a:t> Hotel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'Revenue Lost'!$A$2</c:f>
              <c:strCache>
                <c:ptCount val="1"/>
                <c:pt idx="0">
                  <c:v>City Hotel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Lost'!$B$2:$C$2</c:f>
              <c:numCache>
                <c:formatCode>"₹"#,##0_);[Red]\("₹"#,##0\)</c:formatCode>
                <c:ptCount val="2"/>
                <c:pt idx="0">
                  <c:v>25218077</c:v>
                </c:pt>
                <c:pt idx="1">
                  <c:v>10866064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AB-4164-AB3B-CB70BF27B1FA}"/>
            </c:ext>
          </c:extLst>
        </c:ser>
        <c:ser>
          <c:idx val="1"/>
          <c:order val="1"/>
          <c:tx>
            <c:strRef>
              <c:f>'Revenue Lost'!$A$3</c:f>
              <c:strCache>
                <c:ptCount val="1"/>
                <c:pt idx="0">
                  <c:v>Resort Hotel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Lost'!$B$3:$C$3</c:f>
              <c:numCache>
                <c:formatCode>"₹"#,##0_);[Red]\("₹"#,##0\)</c:formatCode>
                <c:ptCount val="2"/>
                <c:pt idx="0">
                  <c:v>17048701</c:v>
                </c:pt>
                <c:pt idx="1">
                  <c:v>5697319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AB-4164-AB3B-CB70BF27B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71971983"/>
        <c:axId val="1004962863"/>
        <c:axId val="0"/>
      </c:bar3DChart>
      <c:catAx>
        <c:axId val="10719719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4962863"/>
        <c:crosses val="autoZero"/>
        <c:auto val="1"/>
        <c:lblAlgn val="ctr"/>
        <c:lblOffset val="100"/>
        <c:noMultiLvlLbl val="0"/>
      </c:catAx>
      <c:valAx>
        <c:axId val="1004962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1971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 Based</a:t>
            </a:r>
            <a:r>
              <a:rPr lang="en-IN" baseline="0"/>
              <a:t> on Deposit Type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Lost'!$A$12:$A$14</c:f>
              <c:strCache>
                <c:ptCount val="3"/>
                <c:pt idx="0">
                  <c:v>Non Refund</c:v>
                </c:pt>
                <c:pt idx="1">
                  <c:v>Refundable</c:v>
                </c:pt>
                <c:pt idx="2">
                  <c:v>No Deposit</c:v>
                </c:pt>
              </c:strCache>
            </c:strRef>
          </c:cat>
          <c:val>
            <c:numRef>
              <c:f>'Revenue Lost'!$B$12:$B$14</c:f>
              <c:numCache>
                <c:formatCode>"₹"#,##0_);[Red]\("₹"#,##0\)</c:formatCode>
                <c:ptCount val="3"/>
                <c:pt idx="0">
                  <c:v>3615717</c:v>
                </c:pt>
                <c:pt idx="1">
                  <c:v>48985</c:v>
                </c:pt>
                <c:pt idx="2">
                  <c:v>38602076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81-4916-8FDE-380D31568BE7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Lost'!$A$12:$A$14</c:f>
              <c:strCache>
                <c:ptCount val="3"/>
                <c:pt idx="0">
                  <c:v>Non Refund</c:v>
                </c:pt>
                <c:pt idx="1">
                  <c:v>Refundable</c:v>
                </c:pt>
                <c:pt idx="2">
                  <c:v>No Deposit</c:v>
                </c:pt>
              </c:strCache>
            </c:strRef>
          </c:cat>
          <c:val>
            <c:numRef>
              <c:f>'Revenue Lost'!$C$12:$C$14</c:f>
              <c:numCache>
                <c:formatCode>"₹"#,##0_);[Red]\("₹"#,##0\)</c:formatCode>
                <c:ptCount val="3"/>
                <c:pt idx="0">
                  <c:v>3598607</c:v>
                </c:pt>
                <c:pt idx="1">
                  <c:v>19998</c:v>
                </c:pt>
                <c:pt idx="2">
                  <c:v>12944778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81-4916-8FDE-380D31568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25505887"/>
        <c:axId val="1004994543"/>
        <c:axId val="0"/>
      </c:bar3DChart>
      <c:catAx>
        <c:axId val="102550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4994543"/>
        <c:crosses val="autoZero"/>
        <c:auto val="1"/>
        <c:lblAlgn val="ctr"/>
        <c:lblOffset val="100"/>
        <c:noMultiLvlLbl val="0"/>
      </c:catAx>
      <c:valAx>
        <c:axId val="1004994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505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Market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Lost'!$A$24:$A$26</c:f>
              <c:strCache>
                <c:ptCount val="3"/>
                <c:pt idx="0">
                  <c:v>Groups</c:v>
                </c:pt>
                <c:pt idx="1">
                  <c:v>Online TA</c:v>
                </c:pt>
                <c:pt idx="2">
                  <c:v>Refundable/Offline TA/TO</c:v>
                </c:pt>
              </c:strCache>
            </c:strRef>
          </c:cat>
          <c:val>
            <c:numRef>
              <c:f>'Revenue Lost'!$B$24:$B$26</c:f>
              <c:numCache>
                <c:formatCode>"₹"#,##0_);[Red]\("₹"#,##0\)</c:formatCode>
                <c:ptCount val="3"/>
                <c:pt idx="0">
                  <c:v>4652527</c:v>
                </c:pt>
                <c:pt idx="1">
                  <c:v>23670728</c:v>
                </c:pt>
                <c:pt idx="2">
                  <c:v>8136441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81-4611-8F22-637C39D1F1DB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Lost'!$A$24:$A$26</c:f>
              <c:strCache>
                <c:ptCount val="3"/>
                <c:pt idx="0">
                  <c:v>Groups</c:v>
                </c:pt>
                <c:pt idx="1">
                  <c:v>Online TA</c:v>
                </c:pt>
                <c:pt idx="2">
                  <c:v>Refundable/Offline TA/TO</c:v>
                </c:pt>
              </c:strCache>
            </c:strRef>
          </c:cat>
          <c:val>
            <c:numRef>
              <c:f>'Revenue Lost'!$C$24:$C$26</c:f>
              <c:numCache>
                <c:formatCode>"₹"#,##0_);[Red]\("₹"#,##0\)</c:formatCode>
                <c:ptCount val="3"/>
                <c:pt idx="0">
                  <c:v>2799864</c:v>
                </c:pt>
                <c:pt idx="1">
                  <c:v>10100106</c:v>
                </c:pt>
                <c:pt idx="2">
                  <c:v>2486958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81-4611-8F22-637C39D1F1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68814127"/>
        <c:axId val="1005012783"/>
        <c:axId val="0"/>
      </c:bar3DChart>
      <c:catAx>
        <c:axId val="1068814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5012783"/>
        <c:crosses val="autoZero"/>
        <c:auto val="1"/>
        <c:lblAlgn val="ctr"/>
        <c:lblOffset val="100"/>
        <c:noMultiLvlLbl val="0"/>
      </c:catAx>
      <c:valAx>
        <c:axId val="100501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8814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Distribution</a:t>
            </a:r>
            <a:r>
              <a:rPr lang="en-IN" baseline="0"/>
              <a:t> Channel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Lost'!$A$36:$A$38</c:f>
              <c:strCache>
                <c:ptCount val="3"/>
                <c:pt idx="0">
                  <c:v>TA/TO</c:v>
                </c:pt>
                <c:pt idx="1">
                  <c:v>GDS</c:v>
                </c:pt>
                <c:pt idx="2">
                  <c:v>Corporate</c:v>
                </c:pt>
              </c:strCache>
            </c:strRef>
          </c:cat>
          <c:val>
            <c:numRef>
              <c:f>'Revenue Lost'!$B$36:$B$38</c:f>
              <c:numCache>
                <c:formatCode>"₹"#,##0_);[Red]\("₹"#,##0\)</c:formatCode>
                <c:ptCount val="3"/>
                <c:pt idx="0">
                  <c:v>35801271</c:v>
                </c:pt>
                <c:pt idx="1">
                  <c:v>45997</c:v>
                </c:pt>
                <c:pt idx="2">
                  <c:v>1112955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88-4F2A-A465-43FB7245C53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Lost'!$A$36:$A$38</c:f>
              <c:strCache>
                <c:ptCount val="3"/>
                <c:pt idx="0">
                  <c:v>TA/TO</c:v>
                </c:pt>
                <c:pt idx="1">
                  <c:v>GDS</c:v>
                </c:pt>
                <c:pt idx="2">
                  <c:v>Corporate</c:v>
                </c:pt>
              </c:strCache>
            </c:strRef>
          </c:cat>
          <c:val>
            <c:numRef>
              <c:f>'Revenue Lost'!$C$36:$C$38</c:f>
              <c:numCache>
                <c:formatCode>"₹"#,##0_);[Red]\("₹"#,##0\)</c:formatCode>
                <c:ptCount val="3"/>
                <c:pt idx="0">
                  <c:v>15153632</c:v>
                </c:pt>
                <c:pt idx="1">
                  <c:v>12989</c:v>
                </c:pt>
                <c:pt idx="2">
                  <c:v>285579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88-4F2A-A465-43FB7245C5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85758991"/>
        <c:axId val="791697679"/>
        <c:axId val="0"/>
      </c:bar3DChart>
      <c:catAx>
        <c:axId val="1385758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1697679"/>
        <c:crosses val="autoZero"/>
        <c:auto val="1"/>
        <c:lblAlgn val="ctr"/>
        <c:lblOffset val="100"/>
        <c:noMultiLvlLbl val="0"/>
      </c:catAx>
      <c:valAx>
        <c:axId val="791697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575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Has</a:t>
            </a:r>
            <a:r>
              <a:rPr lang="en-IN" baseline="0"/>
              <a:t> Agent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'Revenue Lost'!$A$77</c:f>
              <c:strCache>
                <c:ptCount val="1"/>
                <c:pt idx="0">
                  <c:v>Yes (1)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Lost'!$B$77:$C$77</c:f>
              <c:numCache>
                <c:formatCode>"₹"#,##0_);[Red]\("₹"#,##0\)</c:formatCode>
                <c:ptCount val="2"/>
                <c:pt idx="0">
                  <c:v>38507414</c:v>
                </c:pt>
                <c:pt idx="1">
                  <c:v>15435507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17-4E73-ACA2-57B61EC49022}"/>
            </c:ext>
          </c:extLst>
        </c:ser>
        <c:ser>
          <c:idx val="1"/>
          <c:order val="1"/>
          <c:tx>
            <c:strRef>
              <c:f>'Revenue Lost'!$A$78</c:f>
              <c:strCache>
                <c:ptCount val="1"/>
                <c:pt idx="0">
                  <c:v>No (0)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Lost'!$B$78:$C$78</c:f>
              <c:numCache>
                <c:formatCode>"₹"#,##0_);[Red]\("₹"#,##0\)</c:formatCode>
                <c:ptCount val="2"/>
                <c:pt idx="0">
                  <c:v>3759363</c:v>
                </c:pt>
                <c:pt idx="1">
                  <c:v>1127876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17-4E73-ACA2-57B61EC490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61975199"/>
        <c:axId val="1463564367"/>
        <c:axId val="0"/>
      </c:bar3DChart>
      <c:catAx>
        <c:axId val="14619751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564367"/>
        <c:crosses val="autoZero"/>
        <c:auto val="1"/>
        <c:lblAlgn val="ctr"/>
        <c:lblOffset val="100"/>
        <c:noMultiLvlLbl val="0"/>
      </c:catAx>
      <c:valAx>
        <c:axId val="1463564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1975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Monthly</a:t>
            </a:r>
            <a:r>
              <a:rPr lang="en-US" baseline="0" dirty="0"/>
              <a:t> Changes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Lost'!$A$91:$A$95</c:f>
              <c:strCache>
                <c:ptCount val="5"/>
                <c:pt idx="0">
                  <c:v>April</c:v>
                </c:pt>
                <c:pt idx="1">
                  <c:v>June</c:v>
                </c:pt>
                <c:pt idx="2">
                  <c:v>May</c:v>
                </c:pt>
                <c:pt idx="3">
                  <c:v>December</c:v>
                </c:pt>
                <c:pt idx="4">
                  <c:v>January</c:v>
                </c:pt>
              </c:strCache>
            </c:strRef>
          </c:cat>
          <c:val>
            <c:numRef>
              <c:f>'Revenue Lost'!$B$91:$B$95</c:f>
              <c:numCache>
                <c:formatCode>"₹"#,##0_);[Red]\("₹"#,##0\)</c:formatCode>
                <c:ptCount val="5"/>
                <c:pt idx="0">
                  <c:v>3708207</c:v>
                </c:pt>
                <c:pt idx="1">
                  <c:v>4488562</c:v>
                </c:pt>
                <c:pt idx="2">
                  <c:v>4095098</c:v>
                </c:pt>
                <c:pt idx="3">
                  <c:v>1775378</c:v>
                </c:pt>
                <c:pt idx="4">
                  <c:v>1273077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40-4E4A-82B2-623EAD3D46B5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'Revenue Lost'!$A$91:$A$95</c:f>
              <c:strCache>
                <c:ptCount val="5"/>
                <c:pt idx="0">
                  <c:v>April</c:v>
                </c:pt>
                <c:pt idx="1">
                  <c:v>June</c:v>
                </c:pt>
                <c:pt idx="2">
                  <c:v>May</c:v>
                </c:pt>
                <c:pt idx="3">
                  <c:v>December</c:v>
                </c:pt>
                <c:pt idx="4">
                  <c:v>January</c:v>
                </c:pt>
              </c:strCache>
            </c:strRef>
          </c:cat>
          <c:val>
            <c:numRef>
              <c:f>'Revenue Lost'!$C$91:$C$95</c:f>
              <c:numCache>
                <c:formatCode>"₹"#,##0_);[Red]\("₹"#,##0\)</c:formatCode>
                <c:ptCount val="5"/>
                <c:pt idx="0">
                  <c:v>1610609</c:v>
                </c:pt>
                <c:pt idx="1">
                  <c:v>1912029</c:v>
                </c:pt>
                <c:pt idx="2">
                  <c:v>1704915</c:v>
                </c:pt>
                <c:pt idx="3">
                  <c:v>710066</c:v>
                </c:pt>
                <c:pt idx="4">
                  <c:v>496401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40-4E4A-82B2-623EAD3D46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27492431"/>
        <c:axId val="1463518767"/>
        <c:axId val="0"/>
      </c:bar3DChart>
      <c:catAx>
        <c:axId val="1327492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518767"/>
        <c:crosses val="autoZero"/>
        <c:auto val="1"/>
        <c:lblAlgn val="ctr"/>
        <c:lblOffset val="100"/>
        <c:noMultiLvlLbl val="0"/>
      </c:catAx>
      <c:valAx>
        <c:axId val="146351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7492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'Revenue Lost'!$A$51</c:f>
              <c:strCache>
                <c:ptCount val="1"/>
                <c:pt idx="0">
                  <c:v>Transient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Lost'!$B$51:$C$51</c:f>
              <c:numCache>
                <c:formatCode>"₹"#,##0_);[Red]\("₹"#,##0\)</c:formatCode>
                <c:ptCount val="2"/>
                <c:pt idx="0">
                  <c:v>33776282</c:v>
                </c:pt>
                <c:pt idx="1">
                  <c:v>14704241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32-496A-B8F8-DD4664B72A6C}"/>
            </c:ext>
          </c:extLst>
        </c:ser>
        <c:ser>
          <c:idx val="1"/>
          <c:order val="1"/>
          <c:tx>
            <c:strRef>
              <c:f>'Revenue Lost'!$A$52</c:f>
              <c:strCache>
                <c:ptCount val="1"/>
                <c:pt idx="0">
                  <c:v>Transient-Party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Lost'!$B$52:$C$52</c:f>
              <c:numCache>
                <c:formatCode>"₹"#,##0_);[Red]\("₹"#,##0\)</c:formatCode>
                <c:ptCount val="2"/>
                <c:pt idx="0">
                  <c:v>6511685</c:v>
                </c:pt>
                <c:pt idx="1">
                  <c:v>1488604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32-496A-B8F8-DD4664B72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61973343"/>
        <c:axId val="1463471247"/>
        <c:axId val="0"/>
      </c:bar3DChart>
      <c:catAx>
        <c:axId val="146197334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471247"/>
        <c:crosses val="autoZero"/>
        <c:auto val="1"/>
        <c:lblAlgn val="ctr"/>
        <c:lblOffset val="100"/>
        <c:noMultiLvlLbl val="0"/>
      </c:catAx>
      <c:valAx>
        <c:axId val="1463471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1973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Has</a:t>
            </a:r>
            <a:r>
              <a:rPr lang="en-IN" baseline="0"/>
              <a:t> Company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'Revenue Lost'!$A$64</c:f>
              <c:strCache>
                <c:ptCount val="1"/>
                <c:pt idx="0">
                  <c:v>No (0)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Lost'!$B$64:$C$64</c:f>
              <c:numCache>
                <c:formatCode>"₹"#,##0_);[Red]\("₹"#,##0\)</c:formatCode>
                <c:ptCount val="2"/>
                <c:pt idx="0">
                  <c:v>41169739</c:v>
                </c:pt>
                <c:pt idx="1">
                  <c:v>16359229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CC-4854-95B0-BE653F9584F1}"/>
            </c:ext>
          </c:extLst>
        </c:ser>
        <c:ser>
          <c:idx val="1"/>
          <c:order val="1"/>
          <c:tx>
            <c:strRef>
              <c:f>'Revenue Lost'!$A$65</c:f>
              <c:strCache>
                <c:ptCount val="1"/>
                <c:pt idx="0">
                  <c:v>Yes (1)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'Revenue Lost'!$B$65:$C$65</c:f>
              <c:numCache>
                <c:formatCode>"₹"#,##0_);[Red]\("₹"#,##0\)</c:formatCode>
                <c:ptCount val="2"/>
                <c:pt idx="0">
                  <c:v>1097039</c:v>
                </c:pt>
                <c:pt idx="1">
                  <c:v>204154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CC-4854-95B0-BE653F9584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59928383"/>
        <c:axId val="1463529807"/>
        <c:axId val="0"/>
      </c:bar3DChart>
      <c:catAx>
        <c:axId val="14599283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529807"/>
        <c:crosses val="autoZero"/>
        <c:auto val="1"/>
        <c:lblAlgn val="ctr"/>
        <c:lblOffset val="100"/>
        <c:noMultiLvlLbl val="0"/>
      </c:catAx>
      <c:valAx>
        <c:axId val="1463529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9928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F975C-B0B1-41B6-99E7-28B1B3F6B837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56FA4-E7E3-48F3-83C1-2AD02A6BA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27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56FA4-E7E3-48F3-83C1-2AD02A6BA25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685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357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12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81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879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379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298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313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6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56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4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444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562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119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910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740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892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469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446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241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157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008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014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526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3803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7245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384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2198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891C-B81F-79D5-A349-6FD408D1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7011B-AD6A-58D7-439C-C8EEFBE2B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66DB1-7726-E67D-0028-522AB6C0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FA973-480C-E36D-9D94-F3124DE6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971E-CB13-DEA7-9992-53A5BB4B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53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3982C70B-F866-412B-B78F-D1F10E997D8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AA71C9B-4171-4C73-A80D-52ACBE0B861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3818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  <p:sldLayoutId id="2147483921" r:id="rId13"/>
    <p:sldLayoutId id="2147483922" r:id="rId14"/>
    <p:sldLayoutId id="2147483923" r:id="rId15"/>
    <p:sldLayoutId id="2147483924" r:id="rId16"/>
    <p:sldLayoutId id="2147483925" r:id="rId17"/>
    <p:sldLayoutId id="2147483926" r:id="rId18"/>
    <p:sldLayoutId id="2147483927" r:id="rId19"/>
    <p:sldLayoutId id="2147483928" r:id="rId20"/>
    <p:sldLayoutId id="2147483929" r:id="rId21"/>
    <p:sldLayoutId id="2147483930" r:id="rId22"/>
    <p:sldLayoutId id="2147483931" r:id="rId23"/>
    <p:sldLayoutId id="2147483932" r:id="rId24"/>
    <p:sldLayoutId id="2147483933" r:id="rId25"/>
    <p:sldLayoutId id="2147483934" r:id="rId26"/>
    <p:sldLayoutId id="2147483935" r:id="rId27"/>
    <p:sldLayoutId id="2147483936" r:id="rId2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5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56Jc2AgWd5OAyhkmuiNgQ9oVhrxW1qfn?usp=sharing" TargetMode="External"/><Relationship Id="rId2" Type="http://schemas.openxmlformats.org/officeDocument/2006/relationships/hyperlink" Target="https://github.com/Sivasubramaniyan161004/Quantrix_Round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F459-44AC-4F5E-3567-FC1F8E49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30" y="1646136"/>
            <a:ext cx="10515600" cy="1416152"/>
          </a:xfrm>
        </p:spPr>
        <p:txBody>
          <a:bodyPr>
            <a:normAutofit/>
          </a:bodyPr>
          <a:lstStyle/>
          <a:p>
            <a:r>
              <a:rPr lang="en-IN" sz="4000" dirty="0"/>
              <a:t>Predicting and Preventing Cancellations at StayWell Hotels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08BA0-0AA1-0314-ABA8-C73E656C1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30" y="3163785"/>
            <a:ext cx="10515600" cy="1500187"/>
          </a:xfrm>
        </p:spPr>
        <p:txBody>
          <a:bodyPr/>
          <a:lstStyle/>
          <a:p>
            <a:r>
              <a:rPr lang="en-US" dirty="0"/>
              <a:t>Data Analysis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29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D6E9-97A2-FFAA-73FC-2DEEF858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71500"/>
            <a:ext cx="9922764" cy="935982"/>
          </a:xfrm>
        </p:spPr>
        <p:txBody>
          <a:bodyPr/>
          <a:lstStyle/>
          <a:p>
            <a:r>
              <a:rPr lang="en-US" dirty="0"/>
              <a:t>Basic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8594-2EC0-5ADC-338B-BAEE6B1F4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618" y="1979430"/>
            <a:ext cx="9922764" cy="41667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44224 of 119390 Bookings were Canceled</a:t>
            </a:r>
          </a:p>
          <a:p>
            <a:r>
              <a:rPr lang="en-IN" dirty="0"/>
              <a:t>Categories to analyse </a:t>
            </a:r>
          </a:p>
          <a:p>
            <a:pPr lvl="1"/>
            <a:r>
              <a:rPr lang="en-IN" dirty="0"/>
              <a:t>hotel </a:t>
            </a:r>
          </a:p>
          <a:p>
            <a:pPr lvl="1"/>
            <a:r>
              <a:rPr lang="en-IN" dirty="0" err="1"/>
              <a:t>deposit_type</a:t>
            </a:r>
            <a:endParaRPr lang="en-IN" dirty="0"/>
          </a:p>
          <a:p>
            <a:pPr lvl="1"/>
            <a:r>
              <a:rPr lang="en-IN" dirty="0" err="1"/>
              <a:t>market_segment</a:t>
            </a:r>
            <a:endParaRPr lang="en-IN" dirty="0"/>
          </a:p>
          <a:p>
            <a:pPr lvl="1"/>
            <a:r>
              <a:rPr lang="en-IN" dirty="0" err="1"/>
              <a:t>distribution_channel</a:t>
            </a:r>
            <a:endParaRPr lang="en-IN" dirty="0"/>
          </a:p>
          <a:p>
            <a:pPr lvl="1"/>
            <a:r>
              <a:rPr lang="en-IN" dirty="0" err="1"/>
              <a:t>lead_time_bucket</a:t>
            </a:r>
            <a:endParaRPr lang="en-IN" dirty="0"/>
          </a:p>
          <a:p>
            <a:pPr lvl="1"/>
            <a:r>
              <a:rPr lang="en-IN" dirty="0" err="1"/>
              <a:t>customer_type</a:t>
            </a:r>
            <a:endParaRPr lang="en-IN" dirty="0"/>
          </a:p>
          <a:p>
            <a:pPr lvl="1"/>
            <a:r>
              <a:rPr lang="en-IN" dirty="0" err="1"/>
              <a:t>previous_cancellations</a:t>
            </a:r>
            <a:endParaRPr lang="en-IN" dirty="0"/>
          </a:p>
          <a:p>
            <a:pPr lvl="1"/>
            <a:r>
              <a:rPr lang="en-IN" dirty="0" err="1"/>
              <a:t>booking_changes</a:t>
            </a:r>
            <a:endParaRPr lang="en-IN" dirty="0"/>
          </a:p>
          <a:p>
            <a:pPr lvl="1"/>
            <a:r>
              <a:rPr lang="en-IN" dirty="0" err="1"/>
              <a:t>has_company</a:t>
            </a:r>
            <a:r>
              <a:rPr lang="en-IN" dirty="0"/>
              <a:t> / </a:t>
            </a:r>
            <a:r>
              <a:rPr lang="en-IN" dirty="0" err="1"/>
              <a:t>has_agent</a:t>
            </a:r>
            <a:endParaRPr lang="en-IN" dirty="0"/>
          </a:p>
          <a:p>
            <a:pPr lvl="1"/>
            <a:r>
              <a:rPr lang="en-IN" dirty="0" err="1"/>
              <a:t>arrival_date_month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40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D2B1-F00D-379A-2A01-A4BE4B01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53C1-F0BF-4D29-AA3B-E142E67DA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1800" b="1" dirty="0"/>
              <a:t>Phase 1: Clean &amp; Prepare</a:t>
            </a:r>
          </a:p>
          <a:p>
            <a:pPr lvl="1"/>
            <a:r>
              <a:rPr lang="en-IN" sz="1800" dirty="0"/>
              <a:t>Load data and Inspect for –</a:t>
            </a:r>
            <a:r>
              <a:rPr lang="en-IN" sz="1800" dirty="0" err="1"/>
              <a:t>ve</a:t>
            </a:r>
            <a:r>
              <a:rPr lang="en-IN" sz="1800" dirty="0"/>
              <a:t> values</a:t>
            </a:r>
          </a:p>
          <a:p>
            <a:pPr lvl="1"/>
            <a:r>
              <a:rPr lang="en-IN" sz="1800" dirty="0"/>
              <a:t>Handle NULL values by Introducing Derived Columns with Binary data (</a:t>
            </a:r>
            <a:r>
              <a:rPr lang="en-IN" sz="1800" dirty="0" err="1"/>
              <a:t>has_agent</a:t>
            </a:r>
            <a:r>
              <a:rPr lang="en-IN" sz="1800" dirty="0"/>
              <a:t> / </a:t>
            </a:r>
            <a:r>
              <a:rPr lang="en-IN" sz="1800" dirty="0" err="1"/>
              <a:t>has_company</a:t>
            </a:r>
            <a:r>
              <a:rPr lang="en-IN" sz="1800" dirty="0"/>
              <a:t>)</a:t>
            </a:r>
            <a:endParaRPr lang="en-IN" sz="1800" b="1" dirty="0"/>
          </a:p>
          <a:p>
            <a:r>
              <a:rPr lang="en-IN" sz="1800" b="1" dirty="0"/>
              <a:t>Phase 2: Outlier Detection</a:t>
            </a:r>
          </a:p>
          <a:p>
            <a:pPr lvl="1"/>
            <a:r>
              <a:rPr lang="en-IN" sz="1800" dirty="0"/>
              <a:t>Use IQR method to remove outliers (Eg: </a:t>
            </a:r>
            <a:r>
              <a:rPr lang="en-IN" sz="1800" dirty="0" err="1"/>
              <a:t>adr</a:t>
            </a:r>
            <a:r>
              <a:rPr lang="en-IN" sz="1800" dirty="0"/>
              <a:t> had 5400 value which is a outlier and has to be removed)</a:t>
            </a:r>
          </a:p>
          <a:p>
            <a:r>
              <a:rPr lang="en-IN" sz="1800" b="1" dirty="0"/>
              <a:t>Phase 3: Diagnose – Find category that drive cancellations</a:t>
            </a:r>
          </a:p>
          <a:p>
            <a:pPr lvl="1"/>
            <a:r>
              <a:rPr lang="en-IN" sz="1800" dirty="0"/>
              <a:t>Use mean , Count to find impact score between each category and </a:t>
            </a:r>
            <a:r>
              <a:rPr lang="en-IN" sz="1800" dirty="0" err="1"/>
              <a:t>is_cancelled</a:t>
            </a:r>
            <a:endParaRPr lang="en-IN" sz="1800" dirty="0"/>
          </a:p>
          <a:p>
            <a:pPr lvl="1"/>
            <a:r>
              <a:rPr lang="en-IN" sz="1800" dirty="0"/>
              <a:t>If a category has high impact score and high rate of cancellation then is a driving factor</a:t>
            </a:r>
          </a:p>
          <a:p>
            <a:r>
              <a:rPr lang="en-US" sz="1800" b="1" dirty="0"/>
              <a:t>Phase 4 – Calculate Revenue Impact:</a:t>
            </a:r>
          </a:p>
          <a:p>
            <a:pPr lvl="1"/>
            <a:r>
              <a:rPr lang="en-IN" sz="1800" dirty="0"/>
              <a:t>this tells you which segments are proportionally the most damaging regardless of size.  </a:t>
            </a:r>
            <a:r>
              <a:rPr lang="en-US" sz="1800" dirty="0"/>
              <a:t> </a:t>
            </a:r>
          </a:p>
          <a:p>
            <a:r>
              <a:rPr lang="en-US" sz="1800" b="1" dirty="0"/>
              <a:t>Phase 5 – Findings and Strategy Formulation</a:t>
            </a:r>
          </a:p>
          <a:p>
            <a:pPr lvl="1"/>
            <a:r>
              <a:rPr lang="en-US" sz="1800" dirty="0"/>
              <a:t>Using the Loss in revenue and impact score in cancellations we can find major drivers</a:t>
            </a:r>
          </a:p>
          <a:p>
            <a:pPr lvl="1"/>
            <a:r>
              <a:rPr lang="en-US" sz="1800" dirty="0"/>
              <a:t>Make Suggestions on how to avoid these cancellations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45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24534-2CDB-6F16-93D3-D516E64B6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981" y="352827"/>
            <a:ext cx="10840626" cy="790510"/>
          </a:xfrm>
        </p:spPr>
        <p:txBody>
          <a:bodyPr>
            <a:normAutofit fontScale="90000"/>
          </a:bodyPr>
          <a:lstStyle/>
          <a:p>
            <a:r>
              <a:rPr lang="en-US" dirty="0"/>
              <a:t>Impact Score Tables: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E83650-342D-D840-A14A-FE8F84519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9768" y="1818968"/>
            <a:ext cx="4277032" cy="4434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33EF96-26FF-8031-288A-70D6F36A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939" y="1818968"/>
            <a:ext cx="3293326" cy="4497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83F9E4-43A8-19D4-717C-CF6A5368F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748" y="1818968"/>
            <a:ext cx="3553860" cy="350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914C-87CE-38F2-1DD9-8D8F9383FB4A}"/>
              </a:ext>
            </a:extLst>
          </p:cNvPr>
          <p:cNvSpPr txBox="1">
            <a:spLocks/>
          </p:cNvSpPr>
          <p:nvPr/>
        </p:nvSpPr>
        <p:spPr>
          <a:xfrm>
            <a:off x="838200" y="201561"/>
            <a:ext cx="10515600" cy="10520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Graphs – Revenue Loss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25C31DE4-7FF6-C77A-C8E0-E30116ACD0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8408618"/>
              </p:ext>
            </p:extLst>
          </p:nvPr>
        </p:nvGraphicFramePr>
        <p:xfrm>
          <a:off x="838200" y="1214284"/>
          <a:ext cx="3202858" cy="2654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9808DDF-6D71-387A-10CC-E029142F91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63851"/>
              </p:ext>
            </p:extLst>
          </p:nvPr>
        </p:nvGraphicFramePr>
        <p:xfrm>
          <a:off x="6582755" y="1214284"/>
          <a:ext cx="3984887" cy="2780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AF8EC15-BEE3-14EC-0200-EE27A198D8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732603"/>
              </p:ext>
            </p:extLst>
          </p:nvPr>
        </p:nvGraphicFramePr>
        <p:xfrm>
          <a:off x="6663164" y="4035321"/>
          <a:ext cx="3824067" cy="2574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F44CCB4-4B01-7FB2-5CCC-F26D40DCA0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9458794"/>
              </p:ext>
            </p:extLst>
          </p:nvPr>
        </p:nvGraphicFramePr>
        <p:xfrm>
          <a:off x="838200" y="3995171"/>
          <a:ext cx="3472683" cy="2654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65047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B097-9825-D306-A57F-3AD2F9962263}"/>
              </a:ext>
            </a:extLst>
          </p:cNvPr>
          <p:cNvSpPr txBox="1">
            <a:spLocks/>
          </p:cNvSpPr>
          <p:nvPr/>
        </p:nvSpPr>
        <p:spPr>
          <a:xfrm>
            <a:off x="838200" y="378254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Graphs – Revenue Loss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A40EB3B-96FF-AFC9-201E-87DE60AE2D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343099"/>
              </p:ext>
            </p:extLst>
          </p:nvPr>
        </p:nvGraphicFramePr>
        <p:xfrm>
          <a:off x="530567" y="3795252"/>
          <a:ext cx="4149213" cy="2851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68FF555-212D-888A-5DC1-0B6914B26E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553042"/>
              </p:ext>
            </p:extLst>
          </p:nvPr>
        </p:nvGraphicFramePr>
        <p:xfrm>
          <a:off x="6096000" y="3849519"/>
          <a:ext cx="4546294" cy="275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A4989F2-2C41-85A2-3D31-97171B4142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588583"/>
              </p:ext>
            </p:extLst>
          </p:nvPr>
        </p:nvGraphicFramePr>
        <p:xfrm>
          <a:off x="717005" y="1271296"/>
          <a:ext cx="3776335" cy="2578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0349298-D8FF-1EFA-678D-5C5EFC6965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8857182"/>
              </p:ext>
            </p:extLst>
          </p:nvPr>
        </p:nvGraphicFramePr>
        <p:xfrm>
          <a:off x="6096000" y="1095302"/>
          <a:ext cx="4543999" cy="2754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0974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30FD-175B-B269-2CF6-D2F71541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29806"/>
            <a:ext cx="9922764" cy="935982"/>
          </a:xfrm>
        </p:spPr>
        <p:txBody>
          <a:bodyPr/>
          <a:lstStyle/>
          <a:p>
            <a:r>
              <a:rPr lang="en-US" dirty="0"/>
              <a:t>Drivers for cancellation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0AFC0C-B4A8-DF5E-F19F-2F1BD63FC9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983112"/>
              </p:ext>
            </p:extLst>
          </p:nvPr>
        </p:nvGraphicFramePr>
        <p:xfrm>
          <a:off x="1088136" y="1878114"/>
          <a:ext cx="9923465" cy="4450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84693">
                  <a:extLst>
                    <a:ext uri="{9D8B030D-6E8A-4147-A177-3AD203B41FA5}">
                      <a16:colId xmlns:a16="http://schemas.microsoft.com/office/drawing/2014/main" val="3423353901"/>
                    </a:ext>
                  </a:extLst>
                </a:gridCol>
                <a:gridCol w="1984693">
                  <a:extLst>
                    <a:ext uri="{9D8B030D-6E8A-4147-A177-3AD203B41FA5}">
                      <a16:colId xmlns:a16="http://schemas.microsoft.com/office/drawing/2014/main" val="1354926649"/>
                    </a:ext>
                  </a:extLst>
                </a:gridCol>
                <a:gridCol w="1984693">
                  <a:extLst>
                    <a:ext uri="{9D8B030D-6E8A-4147-A177-3AD203B41FA5}">
                      <a16:colId xmlns:a16="http://schemas.microsoft.com/office/drawing/2014/main" val="672265947"/>
                    </a:ext>
                  </a:extLst>
                </a:gridCol>
                <a:gridCol w="1984693">
                  <a:extLst>
                    <a:ext uri="{9D8B030D-6E8A-4147-A177-3AD203B41FA5}">
                      <a16:colId xmlns:a16="http://schemas.microsoft.com/office/drawing/2014/main" val="1407871855"/>
                    </a:ext>
                  </a:extLst>
                </a:gridCol>
                <a:gridCol w="1984693">
                  <a:extLst>
                    <a:ext uri="{9D8B030D-6E8A-4147-A177-3AD203B41FA5}">
                      <a16:colId xmlns:a16="http://schemas.microsoft.com/office/drawing/2014/main" val="335906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Driver</a:t>
                      </a:r>
                      <a:endParaRPr lang="en-IN" sz="115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Cancellation Rate</a:t>
                      </a:r>
                      <a:endParaRPr lang="en-IN" sz="115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Bookings Affected</a:t>
                      </a:r>
                      <a:endParaRPr lang="en-IN" sz="115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Revenue Lost</a:t>
                      </a:r>
                      <a:endParaRPr lang="en-IN" sz="115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5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Loss %</a:t>
                      </a:r>
                      <a:endParaRPr lang="en-IN" sz="115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2168588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Non-Refund deposit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99.4%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14,585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₹3,598,607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99.53%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101354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Repeat cancellers (previous cancellations ≥ 1)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94.4%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6,050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1,341,743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22491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Groups (market segment)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61.1%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19,783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$2,799,864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60.18%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66238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City Hotel (Hotel type)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41.7%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79,275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$10,866,064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43.09%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185831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Online TA (market segment)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36.7%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56,283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$10,100,106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42.67%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19352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TA/TO (distribution channel)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41.0%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97,665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$15,153,632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42.33%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62643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Transient (customer type)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40.8%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89,327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$14,704,241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43.53%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289348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Has Agent = Yes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39.0%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102,777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$15,435,507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40.08%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898675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 Booking Changes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40.9%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101,000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5,149,843</a:t>
                      </a: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3.23%</a:t>
                      </a: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3195162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Peak season (Apr–Jun)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—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33,797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$5,226,553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42.43%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3937297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Has Company = No (contrast — higher risk)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38.2%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112,267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$16,359,229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39.74%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91" marR="7191" marT="7620" marB="0" anchor="ctr"/>
                </a:tc>
                <a:extLst>
                  <a:ext uri="{0D108BD9-81ED-4DB2-BD59-A6C34878D82A}">
                    <a16:rowId xmlns:a16="http://schemas.microsoft.com/office/drawing/2014/main" val="44523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2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A4EE-C200-18F7-F4A2-411744FFB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E870A-04BC-A4E1-41AC-98E031681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Deposit Type — Non-Refundable</a:t>
            </a:r>
            <a:r>
              <a:rPr lang="en-IN" sz="2100" dirty="0"/>
              <a:t>: 99.4% cancellation rate (14,585 bookings) — near-total cancellation despite being </a:t>
            </a:r>
            <a:r>
              <a:rPr lang="en-IN" sz="2100" dirty="0" err="1"/>
              <a:t>labeled</a:t>
            </a:r>
            <a:r>
              <a:rPr lang="en-IN" sz="2100" dirty="0"/>
              <a:t> "non-refundable." Your strongest, most counterintuitive finding.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Previous Cancellations ≥1</a:t>
            </a:r>
            <a:r>
              <a:rPr lang="en-IN" sz="2100" dirty="0"/>
              <a:t>: 94.4% rate (6,050 bookings) — guests who've cancelled before almost always cancel again. Small volume but extremely high predictive confidence.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Market Segment — Groups</a:t>
            </a:r>
            <a:r>
              <a:rPr lang="en-IN" sz="2100" dirty="0"/>
              <a:t>: 61.1% rate (19,783 bookings) — highest genuine rate among all market segments (not Online TA, which sits at baseline).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Hotel Type — City Hotel</a:t>
            </a:r>
            <a:r>
              <a:rPr lang="en-IN" sz="2100" dirty="0"/>
              <a:t>: 41.7% rate vs Resort's 27.7% (79,275 vs 39,787 bookings) — City Hotel has both a higher rate and higher volume, making it your largest overall problem area.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Distribution Channel — TA/TO</a:t>
            </a:r>
            <a:r>
              <a:rPr lang="en-IN" sz="2100" dirty="0"/>
              <a:t>: 41.0% rate (97,665 bookings) — largest channel by volume and above-baseline rate.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Customer Type — Transient</a:t>
            </a:r>
            <a:r>
              <a:rPr lang="en-IN" sz="2100" dirty="0"/>
              <a:t>: 40.8% rate (89,327 bookings) — largest customer-type segment, cancels above baseline.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Has Agent = True</a:t>
            </a:r>
            <a:r>
              <a:rPr lang="en-IN" sz="2100" dirty="0"/>
              <a:t>: 39.0% rate (102,777 bookings) — agent-booked stays cancel more than direct (24.7%); likely overlapping population with the TA/TO finding above.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Booking Changes = 0</a:t>
            </a:r>
            <a:r>
              <a:rPr lang="en-IN" sz="2100" dirty="0"/>
              <a:t>: 40.8% rate (~101,000 bookings) — guests who never amend their booking cancel far more than those who make 1+ changes (14–20%). Engagement with the booking correlates with commitment.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100" b="1" dirty="0"/>
              <a:t>Seasonality — Peak season (Apr–Aug)</a:t>
            </a:r>
            <a:r>
              <a:rPr lang="en-IN" sz="2100" dirty="0"/>
              <a:t>: Rates of 37.5–41.5% vs 30.5–35.1% in Nov–Feb — cancellations are </a:t>
            </a:r>
            <a:r>
              <a:rPr lang="en-IN" sz="2100" i="1" dirty="0"/>
              <a:t>higher</a:t>
            </a:r>
            <a:r>
              <a:rPr lang="en-IN" sz="2100" dirty="0"/>
              <a:t> exactly when hotels stand to lose the most revenue (peak pricing season).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b="1" dirty="0"/>
              <a:t>Booked by Company -</a:t>
            </a:r>
            <a:r>
              <a:rPr lang="en-IN" sz="2100" dirty="0"/>
              <a:t> If Booked by a company cancellation process rate is low (17%) else it is high (38.2%) but this is not a driver of cancellation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439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72F9-B3E5-ADA1-A542-524886EC6460}"/>
              </a:ext>
            </a:extLst>
          </p:cNvPr>
          <p:cNvSpPr txBox="1">
            <a:spLocks/>
          </p:cNvSpPr>
          <p:nvPr/>
        </p:nvSpPr>
        <p:spPr>
          <a:xfrm>
            <a:off x="838200" y="79239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Steps to Take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2E935-DD59-8A41-C936-E22B4F2633FB}"/>
              </a:ext>
            </a:extLst>
          </p:cNvPr>
          <p:cNvSpPr txBox="1">
            <a:spLocks/>
          </p:cNvSpPr>
          <p:nvPr/>
        </p:nvSpPr>
        <p:spPr>
          <a:xfrm>
            <a:off x="641555" y="1602658"/>
            <a:ext cx="10515600" cy="5144576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IN" sz="2100"/>
              <a:t>Prioritize City Hotel in your implementation sequencing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charge the card at time of booking, not at check-in, so "non-refundable" has real teeth. (Fixes Non-Refundable cancels)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Auto-flag at booking: if previous_cancellations &gt; 0, require prepayment or a mandatory confirmation call before the reservation is finalized. (Most cancels by people already cancelled)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For Groups: </a:t>
            </a:r>
          </a:p>
          <a:p>
            <a:pPr lvl="1"/>
            <a:r>
              <a:rPr lang="en-IN" sz="2100"/>
              <a:t>Tiered deposit by group size: e.g., 20% deposit for 5+ rooms, scaling up for larger blocks. </a:t>
            </a:r>
          </a:p>
          <a:p>
            <a:pPr lvl="1"/>
            <a:r>
              <a:rPr lang="en-IN" sz="2100"/>
              <a:t>Mandatory reconfirmation 14–21 days before arrival — group organizers often lose track of headcount changes.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Frame it as a value-add, not a warning — "confirm your stay to unlock late checkout" — encourages engagement without alarming genuine guests.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The real fix is treating "City Hotel + TA/TO + Transient" as one combined risk profile.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Negotiate stricter cancellation terms with high-volume OTA partners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Reduce "free cancellation" default visibility for OTA listings where StayWell controls the rate plan.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Loyalty/incentive nudges at booking (small perk for confirming, e.g., free breakfast) to increase commitment — cheaper than losing the room entirely. Also can increase chance to book again.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100"/>
              <a:t>If we can move X% of Transient bookings toward corporate-style commitment (deposits, contracts), we'd expect cancellation rates to fall toward 18-20%. This is worth a sales push.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58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BABE-D6F3-E39B-197D-D2A33193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D8B54-86A3-C229-8A70-1013B8205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Build a real-time cancellation-risk score</a:t>
            </a:r>
            <a:r>
              <a:rPr lang="en-IN" sz="2400" dirty="0"/>
              <a:t> at booking, combining </a:t>
            </a:r>
            <a:r>
              <a:rPr lang="en-IN" sz="2400" dirty="0" err="1"/>
              <a:t>deposit_type</a:t>
            </a:r>
            <a:r>
              <a:rPr lang="en-IN" sz="2400" dirty="0"/>
              <a:t> + </a:t>
            </a:r>
            <a:r>
              <a:rPr lang="en-IN" sz="2400" dirty="0" err="1"/>
              <a:t>market_segment</a:t>
            </a:r>
            <a:r>
              <a:rPr lang="en-IN" sz="2400" dirty="0"/>
              <a:t> + </a:t>
            </a:r>
            <a:r>
              <a:rPr lang="en-IN" sz="2400" dirty="0" err="1"/>
              <a:t>previous_cancellations</a:t>
            </a:r>
            <a:r>
              <a:rPr lang="en-IN" sz="2400" dirty="0"/>
              <a:t> + </a:t>
            </a:r>
            <a:r>
              <a:rPr lang="en-IN" sz="2400" dirty="0" err="1"/>
              <a:t>booking_changes</a:t>
            </a:r>
            <a:r>
              <a:rPr lang="en-IN" sz="2400" dirty="0"/>
              <a:t> — even a simple rules-based flag lets front-desk/revenue teams prioritize which bookings need a confirmation call, rather than treating every booking equally.</a:t>
            </a:r>
            <a:endParaRPr lang="en-IN" sz="2400" b="1" dirty="0"/>
          </a:p>
          <a:p>
            <a:endParaRPr lang="en-IN" sz="2400" b="1" dirty="0"/>
          </a:p>
          <a:p>
            <a:r>
              <a:rPr lang="en-IN" sz="2400" b="1" dirty="0"/>
              <a:t>Dynamic overbooking buffer</a:t>
            </a:r>
            <a:r>
              <a:rPr lang="en-IN" sz="2400" dirty="0"/>
              <a:t>, calibrated per hotel and segment (higher buffer for City Hotel + TA/TO + Groups, lower for Corporate/Resort) to recover some of the revenue currently lost to empty-room cancellations.</a:t>
            </a:r>
          </a:p>
        </p:txBody>
      </p:sp>
    </p:spTree>
    <p:extLst>
      <p:ext uri="{BB962C8B-B14F-4D97-AF65-F5344CB8AC3E}">
        <p14:creationId xmlns:p14="http://schemas.microsoft.com/office/powerpoint/2010/main" val="3454926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A862-592A-A0E8-A3AF-9F4444DE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Links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00BBE-C113-0254-73CC-1DDF80BA6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Tools</a:t>
            </a:r>
          </a:p>
          <a:p>
            <a:pPr lvl="1"/>
            <a:r>
              <a:rPr lang="en-US" sz="2000" dirty="0"/>
              <a:t>Python</a:t>
            </a:r>
          </a:p>
          <a:p>
            <a:pPr lvl="1"/>
            <a:r>
              <a:rPr lang="en-US" sz="2000" dirty="0"/>
              <a:t>Google </a:t>
            </a:r>
            <a:r>
              <a:rPr lang="en-US" sz="2000" dirty="0" err="1"/>
              <a:t>Colab</a:t>
            </a:r>
            <a:endParaRPr lang="en-US" sz="2000" dirty="0"/>
          </a:p>
          <a:p>
            <a:pPr lvl="1"/>
            <a:r>
              <a:rPr lang="en-US" sz="2000" dirty="0"/>
              <a:t>Excel</a:t>
            </a:r>
          </a:p>
          <a:p>
            <a:r>
              <a:rPr lang="en-US" sz="2400" dirty="0"/>
              <a:t>Links</a:t>
            </a:r>
          </a:p>
          <a:p>
            <a:pPr lvl="1"/>
            <a:r>
              <a:rPr lang="en-US" sz="2000" dirty="0" err="1"/>
              <a:t>Github</a:t>
            </a:r>
            <a:r>
              <a:rPr lang="en-US" sz="2000" dirty="0"/>
              <a:t> repo: </a:t>
            </a:r>
            <a:r>
              <a:rPr lang="en-US" sz="2000" dirty="0">
                <a:hlinkClick r:id="rId2"/>
              </a:rPr>
              <a:t>https://github.com/Sivasubramaniyan161004/Quantrix_Round2</a:t>
            </a:r>
            <a:endParaRPr lang="en-US" sz="2000" dirty="0"/>
          </a:p>
          <a:p>
            <a:pPr lvl="1"/>
            <a:r>
              <a:rPr lang="en-US" sz="2000" dirty="0"/>
              <a:t>Google </a:t>
            </a:r>
            <a:r>
              <a:rPr lang="en-US" sz="2000" dirty="0" err="1"/>
              <a:t>Colab</a:t>
            </a:r>
            <a:r>
              <a:rPr lang="en-US" sz="2000" dirty="0"/>
              <a:t>: </a:t>
            </a:r>
            <a:r>
              <a:rPr lang="en-US" sz="2000" dirty="0">
                <a:hlinkClick r:id="rId3"/>
              </a:rPr>
              <a:t>https://colab.research.google.com/drive/156Jc2AgWd5OAyhkmuiNgQ9oVhrxW1qfn?usp=sharing</a:t>
            </a:r>
            <a:endParaRPr lang="en-US" sz="2000" dirty="0"/>
          </a:p>
          <a:p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97889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525</TotalTime>
  <Words>1103</Words>
  <Application>Microsoft Office PowerPoint</Application>
  <PresentationFormat>Widescreen</PresentationFormat>
  <Paragraphs>142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Haettenschweiler</vt:lpstr>
      <vt:lpstr>Trade Gothic Next Light</vt:lpstr>
      <vt:lpstr>Editorial</vt:lpstr>
      <vt:lpstr>Predicting and Preventing Cancellations at StayWell Hotels </vt:lpstr>
      <vt:lpstr>Basic analysis</vt:lpstr>
      <vt:lpstr>Procedure</vt:lpstr>
      <vt:lpstr>Impact Score Tables:</vt:lpstr>
      <vt:lpstr>PowerPoint Presentation</vt:lpstr>
      <vt:lpstr>PowerPoint Presentation</vt:lpstr>
      <vt:lpstr>Drivers for cancellation</vt:lpstr>
      <vt:lpstr>Findings</vt:lpstr>
      <vt:lpstr>PowerPoint Presentation</vt:lpstr>
      <vt:lpstr>Solutions</vt:lpstr>
      <vt:lpstr>Tools &amp;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Sivasubramaniyan C</dc:creator>
  <cp:lastModifiedBy>Sivasubramaniyan C</cp:lastModifiedBy>
  <cp:revision>9</cp:revision>
  <dcterms:created xsi:type="dcterms:W3CDTF">2026-08-10T19:26:29Z</dcterms:created>
  <dcterms:modified xsi:type="dcterms:W3CDTF">2026-08-11T18:17:04Z</dcterms:modified>
</cp:coreProperties>
</file>